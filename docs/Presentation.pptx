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7" r:id="rId3"/>
    <p:sldId id="258" r:id="rId4"/>
    <p:sldId id="260" r:id="rId5"/>
    <p:sldId id="261" r:id="rId6"/>
    <p:sldId id="262" r:id="rId7"/>
    <p:sldId id="264" r:id="rId8"/>
    <p:sldId id="271" r:id="rId9"/>
    <p:sldId id="272" r:id="rId10"/>
    <p:sldId id="273" r:id="rId11"/>
    <p:sldId id="274" r:id="rId12"/>
    <p:sldId id="276" r:id="rId13"/>
    <p:sldId id="277" r:id="rId14"/>
    <p:sldId id="278" r:id="rId15"/>
    <p:sldId id="279" r:id="rId16"/>
    <p:sldId id="2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5267" autoAdjust="0"/>
  </p:normalViewPr>
  <p:slideViewPr>
    <p:cSldViewPr snapToGrid="0">
      <p:cViewPr varScale="1">
        <p:scale>
          <a:sx n="79" d="100"/>
          <a:sy n="79" d="100"/>
        </p:scale>
        <p:origin x="84"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997D-3FB3-B6A4-605E-705985E4A0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EAA1BF-FF30-F0ED-AC82-1657F93F6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F4E3A6-1746-82D9-ED9A-FEE262647252}"/>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EFC97AE6-97B8-5BD8-6B41-E116787D67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9A30D-CF69-6036-222E-DA298FA28B11}"/>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816236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EC38-9C56-91FE-BA4B-586D744047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663104-386E-BC35-D859-790FBABD47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83D9FE-EE95-8EB7-2F4B-2B5D4357D926}"/>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EF28A83B-46C1-3C15-0939-8C74840AE3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A8BE5E-7545-2446-2DDE-003E3AD20D07}"/>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167407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0314-0863-969A-7A98-A6D8915E43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2EC6D6-0BA5-9077-FD3D-2DBC8DD53B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BCE3A2-13AD-2A40-FA49-9F7F74557B9D}"/>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F591F6C7-A787-92C5-472C-373895310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196771-F63D-B95B-F7AC-6D9F26904ACE}"/>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3343236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B16B-7CC0-F554-D33E-0BEC42CD4A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997938-F487-488B-610F-53B8DC4F8D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3C4BC18-688A-45FC-9772-569293FAC1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5E89DD-B722-3C55-1C13-C9E23F0390B3}"/>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6" name="Footer Placeholder 5">
            <a:extLst>
              <a:ext uri="{FF2B5EF4-FFF2-40B4-BE49-F238E27FC236}">
                <a16:creationId xmlns:a16="http://schemas.microsoft.com/office/drawing/2014/main" id="{E05347F9-11D3-394F-D584-D4E5E2E220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0AE301-ECF2-EDA1-97B4-BB044BAEF6A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35448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1FA6-167D-8F98-A871-2A6F9A1CCB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F32B2A-5C35-1547-BAB8-7C3DCEE00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E94479-E133-0914-960B-F46F08DD47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3ACAC2-A729-9F7F-DC11-B004814A7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4B01BF-0300-6D53-D000-5BC139D48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BA4A70-86A5-E52D-9696-81861953D0FF}"/>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8" name="Footer Placeholder 7">
            <a:extLst>
              <a:ext uri="{FF2B5EF4-FFF2-40B4-BE49-F238E27FC236}">
                <a16:creationId xmlns:a16="http://schemas.microsoft.com/office/drawing/2014/main" id="{AA931E5E-A7D4-D964-8922-F437FC9385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CBD0D7-071B-D2DB-9BC9-1AA440815747}"/>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3263453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B6A7-EBD0-D514-F87E-2E4A9E0CF9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91DF63-A547-BE6C-CF13-62C4CE685C47}"/>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4" name="Footer Placeholder 3">
            <a:extLst>
              <a:ext uri="{FF2B5EF4-FFF2-40B4-BE49-F238E27FC236}">
                <a16:creationId xmlns:a16="http://schemas.microsoft.com/office/drawing/2014/main" id="{6F34C63E-25B1-0B79-08D7-7238593992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EC5DB8-21C9-7B7E-762B-94040483D247}"/>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96769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F2CDF-E4C5-9FED-683D-F09AFBC84C3E}"/>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3" name="Footer Placeholder 2">
            <a:extLst>
              <a:ext uri="{FF2B5EF4-FFF2-40B4-BE49-F238E27FC236}">
                <a16:creationId xmlns:a16="http://schemas.microsoft.com/office/drawing/2014/main" id="{C42057D9-4E42-B081-F578-FD51B72284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517FE7-7531-4AFE-AF72-E7AE68CFFAE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34360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D7D3-63A9-3B2E-9673-4BA9446676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3E1676-20AF-305B-E8CA-E73101095D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9E98AD-4A0F-5552-30B2-E56EEEBA3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F402F3-C95F-9A27-6AE8-2ABCF50DD5E5}"/>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6" name="Footer Placeholder 5">
            <a:extLst>
              <a:ext uri="{FF2B5EF4-FFF2-40B4-BE49-F238E27FC236}">
                <a16:creationId xmlns:a16="http://schemas.microsoft.com/office/drawing/2014/main" id="{6F7A9EAC-EAE8-4FEE-53F6-8DFC6FF929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AD0018-EECE-B3DA-B22D-0CBBF26CDDF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1893019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34ABA-676A-6A1A-CB99-AF68D48C4F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D29947-667B-133D-8907-4C8E4C442C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794A1A-F1F4-5665-0D42-C7383F9F7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AC319-C488-4950-93F7-9E5562ABD35F}"/>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6" name="Footer Placeholder 5">
            <a:extLst>
              <a:ext uri="{FF2B5EF4-FFF2-40B4-BE49-F238E27FC236}">
                <a16:creationId xmlns:a16="http://schemas.microsoft.com/office/drawing/2014/main" id="{8E834D29-DF0D-1D58-B5E8-65568F1F90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575B93-750B-7A5F-38CB-B787D128AE7A}"/>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68075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CE2D-966F-D471-9EAE-844D065BE1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9794B6-3A57-0F20-4D46-7CA607AAE7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E8ED0-B59E-B60E-1C99-6475D5FB3C26}"/>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BF6DB74E-7879-FE8E-719B-B2EDECA2EA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82BF0C-9FAD-F136-CA3B-B666B30AFE2A}"/>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107027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446FF-6B6E-BEAF-02B3-A74E84A52A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99C768-9538-D2C2-2637-A947BB80D4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0A1F8-C2AA-8274-166D-88BB262A4D48}"/>
              </a:ext>
            </a:extLst>
          </p:cNvPr>
          <p:cNvSpPr>
            <a:spLocks noGrp="1"/>
          </p:cNvSpPr>
          <p:nvPr>
            <p:ph type="dt" sz="half" idx="10"/>
          </p:nvPr>
        </p:nvSpPr>
        <p:spPr/>
        <p:txBody>
          <a:body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54582F90-C7AB-6F54-7724-29C45277D7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C454C-1371-7749-C668-042B49063DC3}"/>
              </a:ext>
            </a:extLst>
          </p:cNvPr>
          <p:cNvSpPr>
            <a:spLocks noGrp="1"/>
          </p:cNvSpPr>
          <p:nvPr>
            <p:ph type="sldNum" sz="quarter" idx="12"/>
          </p:nvPr>
        </p:nvSpPr>
        <p:spPr/>
        <p:txBody>
          <a:bodyPr/>
          <a:lstStyle/>
          <a:p>
            <a:fld id="{78320674-4253-4AFD-A20D-83C8EBACB533}" type="slidenum">
              <a:rPr lang="en-IN" smtClean="0"/>
              <a:t>‹#›</a:t>
            </a:fld>
            <a:endParaRPr lang="en-IN"/>
          </a:p>
        </p:txBody>
      </p:sp>
    </p:spTree>
    <p:extLst>
      <p:ext uri="{BB962C8B-B14F-4D97-AF65-F5344CB8AC3E}">
        <p14:creationId xmlns:p14="http://schemas.microsoft.com/office/powerpoint/2010/main" val="2451919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2032D1-C0A9-8EF1-DD07-E2094D5607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EE92D0-839A-CA66-0DB1-74BD12A25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11C10E-4D78-5C3C-C576-BE546B6F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D41B7D-1623-4CFD-8766-1AB5B831B954}" type="datetimeFigureOut">
              <a:rPr lang="en-IN" smtClean="0"/>
              <a:t>17-09-2026</a:t>
            </a:fld>
            <a:endParaRPr lang="en-IN"/>
          </a:p>
        </p:txBody>
      </p:sp>
      <p:sp>
        <p:nvSpPr>
          <p:cNvPr id="5" name="Footer Placeholder 4">
            <a:extLst>
              <a:ext uri="{FF2B5EF4-FFF2-40B4-BE49-F238E27FC236}">
                <a16:creationId xmlns:a16="http://schemas.microsoft.com/office/drawing/2014/main" id="{342D0D29-CF2C-F56E-9D48-374CB015A8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56DABE-7874-4CFE-FB23-E4F4E574D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320674-4253-4AFD-A20D-83C8EBACB533}" type="slidenum">
              <a:rPr lang="en-IN" smtClean="0"/>
              <a:t>‹#›</a:t>
            </a:fld>
            <a:endParaRPr lang="en-IN"/>
          </a:p>
        </p:txBody>
      </p:sp>
    </p:spTree>
    <p:extLst>
      <p:ext uri="{BB962C8B-B14F-4D97-AF65-F5344CB8AC3E}">
        <p14:creationId xmlns:p14="http://schemas.microsoft.com/office/powerpoint/2010/main" val="2316908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467356" y="97107"/>
            <a:ext cx="9023751" cy="689419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a:t>
            </a:r>
            <a:br>
              <a:rPr lang="en-US" sz="1050" dirty="0">
                <a:latin typeface="Times New Roman" panose="02020603050405020304" pitchFamily="18" charset="0"/>
                <a:cs typeface="Times New Roman" panose="02020603050405020304" pitchFamily="18" charset="0"/>
              </a:rPr>
            </a:br>
            <a:r>
              <a:rPr lang="en-US" sz="1050"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Project Review Meeting  </a:t>
            </a:r>
            <a:endParaRPr lang="en-US" sz="1200" b="1" dirty="0">
              <a:solidFill>
                <a:srgbClr val="FF0000"/>
              </a:solidFill>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 on</a:t>
            </a:r>
            <a:br>
              <a:rPr lang="en-US" sz="12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Explainable AI Framework for Employee                     </a:t>
            </a:r>
            <a:r>
              <a:rPr lang="en-US" sz="2400" b="1" dirty="0" err="1">
                <a:latin typeface="Times New Roman" panose="02020603050405020304" pitchFamily="18" charset="0"/>
                <a:cs typeface="Times New Roman" panose="02020603050405020304" pitchFamily="18" charset="0"/>
              </a:rPr>
              <a:t>AttritionPrediction</a:t>
            </a:r>
            <a:endParaRPr lang="en-US" sz="2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by</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P.SREE BHUVANESWARI - 2420030519</a:t>
            </a:r>
          </a:p>
          <a:p>
            <a:r>
              <a:rPr lang="en-US" sz="1400" dirty="0">
                <a:latin typeface="Times New Roman" panose="02020603050405020304" pitchFamily="18" charset="0"/>
                <a:cs typeface="Times New Roman" panose="02020603050405020304" pitchFamily="18" charset="0"/>
              </a:rPr>
              <a:t>                                                                    M.WITTY-2420030759                                                                   </a:t>
            </a:r>
          </a:p>
          <a:p>
            <a:r>
              <a:rPr lang="en-US" sz="1400" dirty="0">
                <a:latin typeface="Times New Roman" panose="02020603050405020304" pitchFamily="18" charset="0"/>
                <a:cs typeface="Times New Roman" panose="02020603050405020304" pitchFamily="18" charset="0"/>
              </a:rPr>
              <a:t>                                                                    P.GURU PRASAD – 2420090089</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b="1" dirty="0">
                <a:solidFill>
                  <a:srgbClr val="00B0F0"/>
                </a:solidFill>
                <a:latin typeface="Times New Roman" panose="02020603050405020304" pitchFamily="18" charset="0"/>
                <a:cs typeface="Times New Roman" panose="02020603050405020304" pitchFamily="18" charset="0"/>
              </a:rPr>
              <a:t>Team Number: 1</a:t>
            </a:r>
          </a:p>
          <a:p>
            <a:r>
              <a:rPr lang="en-US" sz="1400" b="1" i="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1400" b="1" dirty="0">
                <a:solidFill>
                  <a:srgbClr val="FF0000"/>
                </a:solidFill>
                <a:latin typeface="Times New Roman" panose="02020603050405020304" pitchFamily="18" charset="0"/>
                <a:ea typeface="Times New Roman" panose="02020603050405020304" pitchFamily="18" charset="0"/>
              </a:rPr>
              <a:t>Under the guidance of </a:t>
            </a:r>
            <a:r>
              <a:rPr lang="en-GB" sz="1400" b="1" i="1" dirty="0">
                <a:solidFill>
                  <a:srgbClr val="FF0000"/>
                </a:solidFill>
                <a:latin typeface="Times New Roman" panose="02020603050405020304" pitchFamily="18" charset="0"/>
                <a:cs typeface="Times New Roman" panose="02020603050405020304" pitchFamily="18" charset="0"/>
              </a:rPr>
              <a:t>                                                                                                         </a:t>
            </a:r>
          </a:p>
          <a:p>
            <a:r>
              <a:rPr lang="en-GB" sz="1400" b="1" i="1" dirty="0">
                <a:solidFill>
                  <a:srgbClr val="FF0000"/>
                </a:solidFill>
                <a:latin typeface="Times New Roman" panose="02020603050405020304" pitchFamily="18" charset="0"/>
                <a:cs typeface="Times New Roman" panose="02020603050405020304" pitchFamily="18" charset="0"/>
              </a:rPr>
              <a:t>                                                                         </a:t>
            </a:r>
            <a:r>
              <a:rPr lang="en-US" sz="1400" b="1" i="1" dirty="0">
                <a:solidFill>
                  <a:srgbClr val="00B0F0"/>
                </a:solidFill>
                <a:latin typeface="Times New Roman" panose="02020603050405020304" pitchFamily="18" charset="0"/>
                <a:cs typeface="Times New Roman" panose="02020603050405020304" pitchFamily="18" charset="0"/>
              </a:rPr>
              <a:t>Dr</a:t>
            </a:r>
            <a:r>
              <a:rPr lang="en-US" sz="1400" b="1" dirty="0">
                <a:solidFill>
                  <a:srgbClr val="00B0F0"/>
                </a:solidFill>
                <a:latin typeface="Times New Roman" panose="02020603050405020304" pitchFamily="18" charset="0"/>
                <a:cs typeface="Times New Roman" panose="02020603050405020304" pitchFamily="18" charset="0"/>
              </a:rPr>
              <a:t>. KATANGURI SWANTHANA</a:t>
            </a:r>
            <a:endParaRPr lang="en-US" sz="1400" dirty="0">
              <a:solidFill>
                <a:srgbClr val="00B0F0"/>
              </a:solidFill>
              <a:latin typeface="Times New Roman" panose="02020603050405020304" pitchFamily="18" charset="0"/>
              <a:cs typeface="Times New Roman" panose="02020603050405020304" pitchFamily="18" charset="0"/>
            </a:endParaRPr>
          </a:p>
          <a:p>
            <a:r>
              <a:rPr lang="en-US" sz="1400" b="1" dirty="0">
                <a:solidFill>
                  <a:srgbClr val="00B0F0"/>
                </a:solidFill>
                <a:latin typeface="Times New Roman" panose="02020603050405020304" pitchFamily="18" charset="0"/>
                <a:cs typeface="Times New Roman" panose="02020603050405020304" pitchFamily="18" charset="0"/>
              </a:rPr>
              <a:t>                                                                                </a:t>
            </a: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r>
              <a:rPr lang="en-US" sz="1400" b="1" dirty="0">
                <a:solidFill>
                  <a:srgbClr val="0070C0"/>
                </a:solidFill>
                <a:latin typeface="Times New Roman" panose="02020603050405020304" pitchFamily="18" charset="0"/>
                <a:cs typeface="Times New Roman" panose="02020603050405020304" pitchFamily="18" charset="0"/>
              </a:rPr>
              <a:t>            Department of Computer Science and Engineering</a:t>
            </a: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pPr algn="ctr">
              <a:lnSpc>
                <a:spcPct val="80000"/>
              </a:lnSpc>
              <a:defRPr/>
            </a:pPr>
            <a:r>
              <a:rPr lang="en-GB" sz="2400" b="1" kern="100" dirty="0">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40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4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4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4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4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400" kern="100" dirty="0">
              <a:latin typeface="Aptos" panose="020B0004020202020204" pitchFamily="34" charset="0"/>
              <a:ea typeface="Aptos" panose="020B0004020202020204" pitchFamily="34" charset="0"/>
              <a:cs typeface="Times New Roman" panose="02020603050405020304" pitchFamily="18" charset="0"/>
            </a:endParaRPr>
          </a:p>
          <a:p>
            <a:pPr algn="ctr">
              <a:lnSpc>
                <a:spcPct val="80000"/>
              </a:lnSpc>
              <a:defRPr/>
            </a:pPr>
            <a:endParaRPr lang="en-US" sz="1400" b="1" dirty="0">
              <a:solidFill>
                <a:srgbClr val="0070C0"/>
              </a:solidFill>
              <a:latin typeface="Times New Roman" panose="02020603050405020304" pitchFamily="18" charset="0"/>
              <a:cs typeface="Times New Roman" panose="02020603050405020304" pitchFamily="18" charset="0"/>
            </a:endParaRPr>
          </a:p>
          <a:p>
            <a:r>
              <a:rPr lang="en-US" sz="1400" b="1" dirty="0">
                <a:solidFill>
                  <a:srgbClr val="00B0F0"/>
                </a:solidFill>
                <a:latin typeface="Times New Roman" panose="02020603050405020304" pitchFamily="18" charset="0"/>
                <a:cs typeface="Times New Roman" panose="02020603050405020304" pitchFamily="18" charset="0"/>
              </a:rPr>
              <a:t>                                                                               </a:t>
            </a:r>
          </a:p>
          <a:p>
            <a:endParaRPr lang="en-IN"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7071" y="3924197"/>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490B-F26C-D5D9-2DB4-E9E210231E30}"/>
              </a:ext>
            </a:extLst>
          </p:cNvPr>
          <p:cNvSpPr>
            <a:spLocks noGrp="1"/>
          </p:cNvSpPr>
          <p:nvPr>
            <p:ph type="title"/>
          </p:nvPr>
        </p:nvSpPr>
        <p:spPr>
          <a:xfrm>
            <a:off x="169933" y="154732"/>
            <a:ext cx="10439400" cy="614011"/>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16204C9-308E-BB96-66D8-E282D6D68074}"/>
              </a:ext>
            </a:extLst>
          </p:cNvPr>
          <p:cNvSpPr>
            <a:spLocks noGrp="1"/>
          </p:cNvSpPr>
          <p:nvPr>
            <p:ph idx="1"/>
          </p:nvPr>
        </p:nvSpPr>
        <p:spPr>
          <a:xfrm>
            <a:off x="838200" y="967869"/>
            <a:ext cx="10515600" cy="4351338"/>
          </a:xfrm>
        </p:spPr>
        <p:txBody>
          <a:bodyPr>
            <a:normAutofit/>
          </a:bodyPr>
          <a:lstStyle/>
          <a:p>
            <a:r>
              <a:rPr lang="en-IN" sz="2400" dirty="0">
                <a:latin typeface="Times New Roman" panose="02020603050405020304" pitchFamily="18" charset="0"/>
                <a:cs typeface="Times New Roman" panose="02020603050405020304" pitchFamily="18" charset="0"/>
              </a:rPr>
              <a:t>Employee attrition refers to employees leaving an organization. High attrition can lead to loss of experienced employees, additional recruitment costs and reduced productivity.</a:t>
            </a:r>
          </a:p>
          <a:p>
            <a:r>
              <a:rPr lang="en-IN" sz="2400" dirty="0">
                <a:latin typeface="Times New Roman" panose="02020603050405020304" pitchFamily="18" charset="0"/>
                <a:cs typeface="Times New Roman" panose="02020603050405020304" pitchFamily="18" charset="0"/>
              </a:rPr>
              <a:t>Machine Learning can help predict employees who are more likely to leave. However, prediction alone is not enough for HR. The organization also needs to understand why the model gives that prediction.</a:t>
            </a:r>
          </a:p>
          <a:p>
            <a:r>
              <a:rPr lang="en-IN" sz="2400" dirty="0">
                <a:latin typeface="Times New Roman" panose="02020603050405020304" pitchFamily="18" charset="0"/>
                <a:cs typeface="Times New Roman" panose="02020603050405020304" pitchFamily="18" charset="0"/>
              </a:rPr>
              <a:t>Our project therefore combines Machine Learning with Explainable AI to make employee attrition predictions more understandable and useful for HR decision-making.</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4638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7ABE6-8B4B-5809-7655-ADAD09A40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8CC0F-40D1-AFB8-E86E-CEA635B26543}"/>
              </a:ext>
            </a:extLst>
          </p:cNvPr>
          <p:cNvSpPr>
            <a:spLocks noGrp="1"/>
          </p:cNvSpPr>
          <p:nvPr>
            <p:ph type="title"/>
          </p:nvPr>
        </p:nvSpPr>
        <p:spPr>
          <a:xfrm>
            <a:off x="309857" y="122364"/>
            <a:ext cx="10439400" cy="614011"/>
          </a:xfrm>
        </p:spPr>
        <p:txBody>
          <a:bodyPr>
            <a:normAutofit/>
          </a:bodyPr>
          <a:lstStyle/>
          <a:p>
            <a:r>
              <a:rPr lang="en-IN" sz="32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E384731-1AA8-87F9-C08F-1F0EEAAA8F84}"/>
              </a:ext>
            </a:extLst>
          </p:cNvPr>
          <p:cNvSpPr>
            <a:spLocks noGrp="1"/>
          </p:cNvSpPr>
          <p:nvPr>
            <p:ph idx="1"/>
          </p:nvPr>
        </p:nvSpPr>
        <p:spPr>
          <a:xfrm>
            <a:off x="1094786" y="886950"/>
            <a:ext cx="10520320" cy="4478070"/>
          </a:xfrm>
        </p:spPr>
        <p:txBody>
          <a:bodyPr>
            <a:normAutofit/>
          </a:bodyPr>
          <a:lstStyle/>
          <a:p>
            <a:pPr lvl="0"/>
            <a:r>
              <a:rPr lang="en-IN" sz="2400" dirty="0">
                <a:latin typeface="Times New Roman" panose="02020603050405020304" pitchFamily="18" charset="0"/>
                <a:cs typeface="Times New Roman" panose="02020603050405020304" pitchFamily="18" charset="0"/>
              </a:rPr>
              <a:t>Organizations have large amounts of employee data. </a:t>
            </a:r>
          </a:p>
          <a:p>
            <a:pPr lvl="0"/>
            <a:r>
              <a:rPr lang="en-IN" sz="2400" dirty="0">
                <a:latin typeface="Times New Roman" panose="02020603050405020304" pitchFamily="18" charset="0"/>
                <a:cs typeface="Times New Roman" panose="02020603050405020304" pitchFamily="18" charset="0"/>
              </a:rPr>
              <a:t>Identifying employees who may leave is difficult. </a:t>
            </a:r>
          </a:p>
          <a:p>
            <a:pPr lvl="0"/>
            <a:r>
              <a:rPr lang="en-IN" sz="2400" dirty="0">
                <a:latin typeface="Times New Roman" panose="02020603050405020304" pitchFamily="18" charset="0"/>
                <a:cs typeface="Times New Roman" panose="02020603050405020304" pitchFamily="18" charset="0"/>
              </a:rPr>
              <a:t>Employee attrition depends on multiple factors. </a:t>
            </a:r>
          </a:p>
          <a:p>
            <a:pPr lvl="0"/>
            <a:r>
              <a:rPr lang="en-IN" sz="2400" dirty="0">
                <a:latin typeface="Times New Roman" panose="02020603050405020304" pitchFamily="18" charset="0"/>
                <a:cs typeface="Times New Roman" panose="02020603050405020304" pitchFamily="18" charset="0"/>
              </a:rPr>
              <a:t>ML models may provide predictions without understandable reasons. </a:t>
            </a:r>
          </a:p>
          <a:p>
            <a:pPr lvl="0"/>
            <a:r>
              <a:rPr lang="en-IN" sz="2400" dirty="0">
                <a:latin typeface="Times New Roman" panose="02020603050405020304" pitchFamily="18" charset="0"/>
                <a:cs typeface="Times New Roman" panose="02020603050405020304" pitchFamily="18" charset="0"/>
              </a:rPr>
              <a:t>HR requires clear information about the factors influencing attrition. </a:t>
            </a:r>
          </a:p>
          <a:p>
            <a:pPr lvl="0"/>
            <a:r>
              <a:rPr lang="en-IN" sz="2400" dirty="0">
                <a:latin typeface="Times New Roman" panose="02020603050405020304" pitchFamily="18" charset="0"/>
                <a:cs typeface="Times New Roman" panose="02020603050405020304" pitchFamily="18" charset="0"/>
              </a:rPr>
              <a:t>Employee attrition data is imbalanced.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9972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C7A7D-C80F-FF23-B47D-12ED9C460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10819-5445-6F55-F48A-62FA1069481F}"/>
              </a:ext>
            </a:extLst>
          </p:cNvPr>
          <p:cNvSpPr>
            <a:spLocks noGrp="1"/>
          </p:cNvSpPr>
          <p:nvPr>
            <p:ph type="title"/>
          </p:nvPr>
        </p:nvSpPr>
        <p:spPr>
          <a:xfrm>
            <a:off x="145656" y="154732"/>
            <a:ext cx="10439400" cy="614011"/>
          </a:xfrm>
        </p:spPr>
        <p:txBody>
          <a:bodyPr>
            <a:normAutofit/>
          </a:bodyPr>
          <a:lstStyle/>
          <a:p>
            <a:r>
              <a:rPr lang="en-IN" sz="3200"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F7010739-3DE9-F928-80AB-9DCFA39D76CB}"/>
              </a:ext>
            </a:extLst>
          </p:cNvPr>
          <p:cNvSpPr>
            <a:spLocks noGrp="1"/>
          </p:cNvSpPr>
          <p:nvPr>
            <p:ph idx="1"/>
          </p:nvPr>
        </p:nvSpPr>
        <p:spPr>
          <a:xfrm>
            <a:off x="916759" y="992146"/>
            <a:ext cx="10520320" cy="4478070"/>
          </a:xfrm>
        </p:spPr>
        <p:txBody>
          <a:bodyPr>
            <a:normAutofit/>
          </a:bodyPr>
          <a:lstStyle/>
          <a:p>
            <a:pPr lvl="0"/>
            <a:r>
              <a:rPr lang="en-IN" sz="2400" dirty="0">
                <a:latin typeface="Times New Roman" panose="02020603050405020304" pitchFamily="18" charset="0"/>
                <a:cs typeface="Times New Roman" panose="02020603050405020304" pitchFamily="18" charset="0"/>
              </a:rPr>
              <a:t>Predict employee attrition using Machine Learning. </a:t>
            </a:r>
          </a:p>
          <a:p>
            <a:pPr lvl="0"/>
            <a:r>
              <a:rPr lang="en-IN" sz="2400" dirty="0">
                <a:latin typeface="Times New Roman" panose="02020603050405020304" pitchFamily="18" charset="0"/>
                <a:cs typeface="Times New Roman" panose="02020603050405020304" pitchFamily="18" charset="0"/>
              </a:rPr>
              <a:t>Identify important factors influencing employee attrition.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SHAP and LIME</a:t>
            </a:r>
            <a:r>
              <a:rPr lang="en-IN" sz="2400" dirty="0">
                <a:latin typeface="Times New Roman" panose="02020603050405020304" pitchFamily="18" charset="0"/>
                <a:cs typeface="Times New Roman" panose="02020603050405020304" pitchFamily="18" charset="0"/>
              </a:rPr>
              <a:t> for explainability. </a:t>
            </a:r>
          </a:p>
          <a:p>
            <a:pPr lvl="0"/>
            <a:r>
              <a:rPr lang="en-IN" sz="2400" dirty="0">
                <a:latin typeface="Times New Roman" panose="02020603050405020304" pitchFamily="18" charset="0"/>
                <a:cs typeface="Times New Roman" panose="02020603050405020304" pitchFamily="18" charset="0"/>
              </a:rPr>
              <a:t>Provide both overall and individual-level explanations. </a:t>
            </a:r>
          </a:p>
          <a:p>
            <a:pPr lvl="0"/>
            <a:r>
              <a:rPr lang="en-IN" sz="2400" dirty="0">
                <a:latin typeface="Times New Roman" panose="02020603050405020304" pitchFamily="18" charset="0"/>
                <a:cs typeface="Times New Roman" panose="02020603050405020304" pitchFamily="18" charset="0"/>
              </a:rPr>
              <a:t>Evaluate models using Accuracy, Precision, Recall, F1-Score and ROC-AUC. </a:t>
            </a:r>
          </a:p>
          <a:p>
            <a:pPr lvl="0"/>
            <a:r>
              <a:rPr lang="en-IN" sz="2400" dirty="0">
                <a:latin typeface="Times New Roman" panose="02020603050405020304" pitchFamily="18" charset="0"/>
                <a:cs typeface="Times New Roman" panose="02020603050405020304" pitchFamily="18" charset="0"/>
              </a:rPr>
              <a:t>Provide understandable information for HR decision support.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94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3BC8-9796-43C3-81E1-ED91A7C4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4C525-AC3D-87BE-5924-5D795E74BAD8}"/>
              </a:ext>
            </a:extLst>
          </p:cNvPr>
          <p:cNvSpPr>
            <a:spLocks noGrp="1"/>
          </p:cNvSpPr>
          <p:nvPr>
            <p:ph type="title"/>
          </p:nvPr>
        </p:nvSpPr>
        <p:spPr>
          <a:xfrm>
            <a:off x="178362" y="146640"/>
            <a:ext cx="10965045" cy="614011"/>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graphicFrame>
        <p:nvGraphicFramePr>
          <p:cNvPr id="12" name="Content Placeholder 11">
            <a:extLst>
              <a:ext uri="{FF2B5EF4-FFF2-40B4-BE49-F238E27FC236}">
                <a16:creationId xmlns:a16="http://schemas.microsoft.com/office/drawing/2014/main" id="{1C28B7A1-C196-E258-5FBD-3942DFC6995E}"/>
              </a:ext>
            </a:extLst>
          </p:cNvPr>
          <p:cNvGraphicFramePr>
            <a:graphicFrameLocks noGrp="1"/>
          </p:cNvGraphicFramePr>
          <p:nvPr>
            <p:ph idx="1"/>
            <p:extLst>
              <p:ext uri="{D42A27DB-BD31-4B8C-83A1-F6EECF244321}">
                <p14:modId xmlns:p14="http://schemas.microsoft.com/office/powerpoint/2010/main" val="169891185"/>
              </p:ext>
            </p:extLst>
          </p:nvPr>
        </p:nvGraphicFramePr>
        <p:xfrm>
          <a:off x="388755" y="1137802"/>
          <a:ext cx="11490690" cy="5155664"/>
        </p:xfrm>
        <a:graphic>
          <a:graphicData uri="http://schemas.openxmlformats.org/drawingml/2006/table">
            <a:tbl>
              <a:tblPr firstRow="1" bandRow="1">
                <a:tableStyleId>{5C22544A-7EE6-4342-B048-85BDC9FD1C3A}</a:tableStyleId>
              </a:tblPr>
              <a:tblGrid>
                <a:gridCol w="2298138">
                  <a:extLst>
                    <a:ext uri="{9D8B030D-6E8A-4147-A177-3AD203B41FA5}">
                      <a16:colId xmlns:a16="http://schemas.microsoft.com/office/drawing/2014/main" val="4179886534"/>
                    </a:ext>
                  </a:extLst>
                </a:gridCol>
                <a:gridCol w="2298138">
                  <a:extLst>
                    <a:ext uri="{9D8B030D-6E8A-4147-A177-3AD203B41FA5}">
                      <a16:colId xmlns:a16="http://schemas.microsoft.com/office/drawing/2014/main" val="3328743088"/>
                    </a:ext>
                  </a:extLst>
                </a:gridCol>
                <a:gridCol w="2298138">
                  <a:extLst>
                    <a:ext uri="{9D8B030D-6E8A-4147-A177-3AD203B41FA5}">
                      <a16:colId xmlns:a16="http://schemas.microsoft.com/office/drawing/2014/main" val="1468619842"/>
                    </a:ext>
                  </a:extLst>
                </a:gridCol>
                <a:gridCol w="2298138">
                  <a:extLst>
                    <a:ext uri="{9D8B030D-6E8A-4147-A177-3AD203B41FA5}">
                      <a16:colId xmlns:a16="http://schemas.microsoft.com/office/drawing/2014/main" val="2059865173"/>
                    </a:ext>
                  </a:extLst>
                </a:gridCol>
                <a:gridCol w="2298138">
                  <a:extLst>
                    <a:ext uri="{9D8B030D-6E8A-4147-A177-3AD203B41FA5}">
                      <a16:colId xmlns:a16="http://schemas.microsoft.com/office/drawing/2014/main" val="170243099"/>
                    </a:ext>
                  </a:extLst>
                </a:gridCol>
              </a:tblGrid>
              <a:tr h="816476">
                <a:tc>
                  <a:txBody>
                    <a:bodyPr/>
                    <a:lstStyle/>
                    <a:p>
                      <a:r>
                        <a:rPr lang="en-IN" dirty="0">
                          <a:latin typeface="Times New Roman" panose="02020603050405020304" pitchFamily="18" charset="0"/>
                          <a:cs typeface="Times New Roman" panose="02020603050405020304" pitchFamily="18" charset="0"/>
                        </a:rPr>
                        <a:t>YEAR</a:t>
                      </a:r>
                    </a:p>
                  </a:txBody>
                  <a:tcPr/>
                </a:tc>
                <a:tc>
                  <a:txBody>
                    <a:bodyPr/>
                    <a:lstStyle/>
                    <a:p>
                      <a:r>
                        <a:rPr lang="en-IN" dirty="0">
                          <a:latin typeface="Times New Roman" panose="02020603050405020304" pitchFamily="18" charset="0"/>
                          <a:cs typeface="Times New Roman" panose="02020603050405020304" pitchFamily="18" charset="0"/>
                        </a:rPr>
                        <a:t>RESEARCH</a:t>
                      </a:r>
                    </a:p>
                  </a:txBody>
                  <a:tcPr/>
                </a:tc>
                <a:tc>
                  <a:txBody>
                    <a:bodyPr/>
                    <a:lstStyle/>
                    <a:p>
                      <a:r>
                        <a:rPr lang="en-IN" dirty="0">
                          <a:latin typeface="Times New Roman" panose="02020603050405020304" pitchFamily="18" charset="0"/>
                          <a:cs typeface="Times New Roman" panose="02020603050405020304" pitchFamily="18" charset="0"/>
                        </a:rPr>
                        <a:t>TECHNIQUE</a:t>
                      </a:r>
                    </a:p>
                  </a:txBody>
                  <a:tcPr/>
                </a:tc>
                <a:tc>
                  <a:txBody>
                    <a:bodyPr/>
                    <a:lstStyle/>
                    <a:p>
                      <a:r>
                        <a:rPr lang="en-IN" dirty="0">
                          <a:latin typeface="Times New Roman" panose="02020603050405020304" pitchFamily="18" charset="0"/>
                          <a:cs typeface="Times New Roman" panose="02020603050405020304" pitchFamily="18" charset="0"/>
                        </a:rPr>
                        <a:t>PURPOSE</a:t>
                      </a:r>
                    </a:p>
                  </a:txBody>
                  <a:tcPr/>
                </a:tc>
                <a:tc>
                  <a:txBody>
                    <a:bodyPr/>
                    <a:lstStyle/>
                    <a:p>
                      <a:r>
                        <a:rPr lang="en-IN" dirty="0">
                          <a:latin typeface="Times New Roman" panose="02020603050405020304" pitchFamily="18" charset="0"/>
                          <a:cs typeface="Times New Roman" panose="02020603050405020304" pitchFamily="18" charset="0"/>
                        </a:rPr>
                        <a:t>LIMITATION/GAP</a:t>
                      </a:r>
                    </a:p>
                  </a:txBody>
                  <a:tcPr/>
                </a:tc>
                <a:extLst>
                  <a:ext uri="{0D108BD9-81ED-4DB2-BD59-A6C34878D82A}">
                    <a16:rowId xmlns:a16="http://schemas.microsoft.com/office/drawing/2014/main" val="914623934"/>
                  </a:ext>
                </a:extLst>
              </a:tr>
              <a:tr h="816476">
                <a:tc>
                  <a:txBody>
                    <a:bodyPr/>
                    <a:lstStyle/>
                    <a:p>
                      <a:r>
                        <a:rPr lang="en-IN" sz="1400" dirty="0">
                          <a:latin typeface="Times New Roman" panose="02020603050405020304" pitchFamily="18" charset="0"/>
                          <a:cs typeface="Times New Roman" panose="02020603050405020304" pitchFamily="18" charset="0"/>
                        </a:rPr>
                        <a:t>2022</a:t>
                      </a:r>
                    </a:p>
                  </a:txBody>
                  <a:tcPr/>
                </a:tc>
                <a:tc>
                  <a:txBody>
                    <a:bodyPr/>
                    <a:lstStyle/>
                    <a:p>
                      <a:r>
                        <a:rPr lang="en-IN" sz="1400" dirty="0">
                          <a:latin typeface="Times New Roman" panose="02020603050405020304" pitchFamily="18" charset="0"/>
                          <a:cs typeface="Times New Roman" panose="02020603050405020304" pitchFamily="18" charset="0"/>
                        </a:rPr>
                        <a:t>Interpreting the Factors of Employee Attrition using Explainable AI</a:t>
                      </a:r>
                    </a:p>
                  </a:txBody>
                  <a:tcPr/>
                </a:tc>
                <a:tc>
                  <a:txBody>
                    <a:bodyPr/>
                    <a:lstStyle/>
                    <a:p>
                      <a:r>
                        <a:rPr lang="en-IN" sz="1400" dirty="0">
                          <a:latin typeface="Times New Roman" panose="02020603050405020304" pitchFamily="18" charset="0"/>
                          <a:cs typeface="Times New Roman" panose="02020603050405020304" pitchFamily="18" charset="0"/>
                        </a:rPr>
                        <a:t>SHAP + LIME</a:t>
                      </a:r>
                    </a:p>
                  </a:txBody>
                  <a:tcPr/>
                </a:tc>
                <a:tc>
                  <a:txBody>
                    <a:bodyPr/>
                    <a:lstStyle/>
                    <a:p>
                      <a:r>
                        <a:rPr lang="en-IN" sz="1400" dirty="0">
                          <a:latin typeface="Times New Roman" panose="02020603050405020304" pitchFamily="18" charset="0"/>
                          <a:cs typeface="Times New Roman" panose="02020603050405020304" pitchFamily="18" charset="0"/>
                        </a:rPr>
                        <a:t>Explains factors influencing employee attrition</a:t>
                      </a:r>
                    </a:p>
                  </a:txBody>
                  <a:tcPr/>
                </a:tc>
                <a:tc>
                  <a:txBody>
                    <a:bodyPr/>
                    <a:lstStyle/>
                    <a:p>
                      <a:r>
                        <a:rPr lang="en-IN" sz="1400" dirty="0">
                          <a:latin typeface="Times New Roman" panose="02020603050405020304" pitchFamily="18" charset="0"/>
                          <a:cs typeface="Times New Roman" panose="02020603050405020304" pitchFamily="18" charset="0"/>
                        </a:rPr>
                        <a:t>Mainly focuses on interpreting attrition factors</a:t>
                      </a:r>
                    </a:p>
                  </a:txBody>
                  <a:tcPr/>
                </a:tc>
                <a:extLst>
                  <a:ext uri="{0D108BD9-81ED-4DB2-BD59-A6C34878D82A}">
                    <a16:rowId xmlns:a16="http://schemas.microsoft.com/office/drawing/2014/main" val="4047279322"/>
                  </a:ext>
                </a:extLst>
              </a:tr>
              <a:tr h="816476">
                <a:tc>
                  <a:txBody>
                    <a:bodyPr/>
                    <a:lstStyle/>
                    <a:p>
                      <a:r>
                        <a:rPr lang="en-IN" sz="1400" dirty="0">
                          <a:latin typeface="Times New Roman" panose="02020603050405020304" pitchFamily="18" charset="0"/>
                          <a:cs typeface="Times New Roman" panose="02020603050405020304" pitchFamily="18" charset="0"/>
                        </a:rPr>
                        <a:t>2023</a:t>
                      </a:r>
                    </a:p>
                  </a:txBody>
                  <a:tcPr/>
                </a:tc>
                <a:tc>
                  <a:txBody>
                    <a:bodyPr/>
                    <a:lstStyle/>
                    <a:p>
                      <a:pPr>
                        <a:buNone/>
                      </a:pPr>
                      <a:r>
                        <a:rPr lang="en-IN" sz="1400" dirty="0" err="1">
                          <a:latin typeface="Times New Roman" panose="02020603050405020304" pitchFamily="18" charset="0"/>
                          <a:cs typeface="Times New Roman" panose="02020603050405020304" pitchFamily="18" charset="0"/>
                        </a:rPr>
                        <a:t>Analyzing</a:t>
                      </a:r>
                      <a:r>
                        <a:rPr lang="en-IN" sz="1400" dirty="0">
                          <a:latin typeface="Times New Roman" panose="02020603050405020304" pitchFamily="18" charset="0"/>
                          <a:cs typeface="Times New Roman" panose="02020603050405020304" pitchFamily="18" charset="0"/>
                        </a:rPr>
                        <a:t> Employee Attrition Using Explainable AI for Strategic HR Decision-Making</a:t>
                      </a:r>
                    </a:p>
                  </a:txBody>
                  <a:tcPr anchor="ctr"/>
                </a:tc>
                <a:tc>
                  <a:txBody>
                    <a:bodyPr/>
                    <a:lstStyle/>
                    <a:p>
                      <a:r>
                        <a:rPr lang="en-IN" sz="1400" dirty="0">
                          <a:latin typeface="Times New Roman" panose="02020603050405020304" pitchFamily="18" charset="0"/>
                          <a:cs typeface="Times New Roman" panose="02020603050405020304" pitchFamily="18" charset="0"/>
                        </a:rPr>
                        <a:t>LIME + SHAP + ELI5</a:t>
                      </a:r>
                    </a:p>
                  </a:txBody>
                  <a:tcPr/>
                </a:tc>
                <a:tc>
                  <a:txBody>
                    <a:bodyPr/>
                    <a:lstStyle/>
                    <a:p>
                      <a:r>
                        <a:rPr lang="en-IN" sz="1400" dirty="0">
                          <a:latin typeface="Times New Roman" panose="02020603050405020304" pitchFamily="18" charset="0"/>
                          <a:cs typeface="Times New Roman" panose="02020603050405020304" pitchFamily="18" charset="0"/>
                        </a:rPr>
                        <a:t>Explains ML predictions for HR decisions</a:t>
                      </a:r>
                    </a:p>
                  </a:txBody>
                  <a:tcPr/>
                </a:tc>
                <a:tc>
                  <a:txBody>
                    <a:bodyPr/>
                    <a:lstStyle/>
                    <a:p>
                      <a:r>
                        <a:rPr lang="en-IN" sz="1400" dirty="0">
                          <a:latin typeface="Times New Roman" panose="02020603050405020304" pitchFamily="18" charset="0"/>
                          <a:cs typeface="Times New Roman" panose="02020603050405020304" pitchFamily="18" charset="0"/>
                        </a:rPr>
                        <a:t>Mainly focuses on prediction and explanation</a:t>
                      </a:r>
                    </a:p>
                  </a:txBody>
                  <a:tcPr/>
                </a:tc>
                <a:extLst>
                  <a:ext uri="{0D108BD9-81ED-4DB2-BD59-A6C34878D82A}">
                    <a16:rowId xmlns:a16="http://schemas.microsoft.com/office/drawing/2014/main" val="3814754078"/>
                  </a:ext>
                </a:extLst>
              </a:tr>
              <a:tr h="816476">
                <a:tc>
                  <a:txBody>
                    <a:bodyPr/>
                    <a:lstStyle/>
                    <a:p>
                      <a:r>
                        <a:rPr lang="en-IN" sz="1400" dirty="0">
                          <a:latin typeface="Times New Roman" panose="02020603050405020304" pitchFamily="18" charset="0"/>
                          <a:cs typeface="Times New Roman" panose="02020603050405020304" pitchFamily="18" charset="0"/>
                        </a:rPr>
                        <a:t>2023</a:t>
                      </a:r>
                    </a:p>
                  </a:txBody>
                  <a:tcPr/>
                </a:tc>
                <a:tc>
                  <a:txBody>
                    <a:bodyPr/>
                    <a:lstStyle/>
                    <a:p>
                      <a:pPr>
                        <a:buNone/>
                      </a:pPr>
                      <a:r>
                        <a:rPr lang="en-IN" sz="1400" dirty="0">
                          <a:latin typeface="Times New Roman" panose="02020603050405020304" pitchFamily="18" charset="0"/>
                          <a:cs typeface="Times New Roman" panose="02020603050405020304" pitchFamily="18" charset="0"/>
                        </a:rPr>
                        <a:t>Retention Is All You Need</a:t>
                      </a:r>
                    </a:p>
                  </a:txBody>
                  <a:tcPr anchor="ctr"/>
                </a:tc>
                <a:tc>
                  <a:txBody>
                    <a:bodyPr/>
                    <a:lstStyle/>
                    <a:p>
                      <a:r>
                        <a:rPr lang="en-IN" sz="1400" dirty="0">
                          <a:latin typeface="Times New Roman" panose="02020603050405020304" pitchFamily="18" charset="0"/>
                          <a:cs typeface="Times New Roman" panose="02020603050405020304" pitchFamily="18" charset="0"/>
                        </a:rPr>
                        <a:t>ML + SHAP</a:t>
                      </a:r>
                    </a:p>
                  </a:txBody>
                  <a:tcPr/>
                </a:tc>
                <a:tc>
                  <a:txBody>
                    <a:bodyPr/>
                    <a:lstStyle/>
                    <a:p>
                      <a:r>
                        <a:rPr lang="en-IN" sz="1400" dirty="0">
                          <a:latin typeface="Times New Roman" panose="02020603050405020304" pitchFamily="18" charset="0"/>
                          <a:cs typeface="Times New Roman" panose="02020603050405020304" pitchFamily="18" charset="0"/>
                        </a:rPr>
                        <a:t>HR decision-support for attrition</a:t>
                      </a:r>
                    </a:p>
                  </a:txBody>
                  <a:tcPr/>
                </a:tc>
                <a:tc>
                  <a:txBody>
                    <a:bodyPr/>
                    <a:lstStyle/>
                    <a:p>
                      <a:r>
                        <a:rPr lang="en-IN" sz="1400" dirty="0">
                          <a:latin typeface="Times New Roman" panose="02020603050405020304" pitchFamily="18" charset="0"/>
                          <a:cs typeface="Times New Roman" panose="02020603050405020304" pitchFamily="18" charset="0"/>
                        </a:rPr>
                        <a:t>Shows that XAI can support HR decisions</a:t>
                      </a:r>
                    </a:p>
                  </a:txBody>
                  <a:tcPr/>
                </a:tc>
                <a:extLst>
                  <a:ext uri="{0D108BD9-81ED-4DB2-BD59-A6C34878D82A}">
                    <a16:rowId xmlns:a16="http://schemas.microsoft.com/office/drawing/2014/main" val="547865204"/>
                  </a:ext>
                </a:extLst>
              </a:tr>
              <a:tr h="816476">
                <a:tc>
                  <a:txBody>
                    <a:bodyPr/>
                    <a:lstStyle/>
                    <a:p>
                      <a:r>
                        <a:rPr lang="en-IN" sz="1400" dirty="0">
                          <a:latin typeface="Times New Roman" panose="02020603050405020304" pitchFamily="18" charset="0"/>
                          <a:cs typeface="Times New Roman" panose="02020603050405020304" pitchFamily="18" charset="0"/>
                        </a:rPr>
                        <a:t>2026</a:t>
                      </a:r>
                    </a:p>
                  </a:txBody>
                  <a:tcPr/>
                </a:tc>
                <a:tc>
                  <a:txBody>
                    <a:bodyPr/>
                    <a:lstStyle/>
                    <a:p>
                      <a:r>
                        <a:rPr lang="en-IN" sz="1400" dirty="0">
                          <a:latin typeface="Times New Roman" panose="02020603050405020304" pitchFamily="18" charset="0"/>
                          <a:cs typeface="Times New Roman" panose="02020603050405020304" pitchFamily="18" charset="0"/>
                        </a:rPr>
                        <a:t>Employee Attrition Prediction: An Explanatory and Statistically Robust Ensemble Learning Model</a:t>
                      </a:r>
                    </a:p>
                  </a:txBody>
                  <a:tcPr/>
                </a:tc>
                <a:tc>
                  <a:txBody>
                    <a:bodyPr/>
                    <a:lstStyle/>
                    <a:p>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 SHAP + LIME + </a:t>
                      </a:r>
                      <a:r>
                        <a:rPr lang="en-IN" sz="1400" dirty="0" err="1">
                          <a:latin typeface="Times New Roman" panose="02020603050405020304" pitchFamily="18" charset="0"/>
                          <a:cs typeface="Times New Roman" panose="02020603050405020304" pitchFamily="18" charset="0"/>
                        </a:rPr>
                        <a:t>Optuna</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Improves prediction and interpretability</a:t>
                      </a:r>
                    </a:p>
                  </a:txBody>
                  <a:tcPr/>
                </a:tc>
                <a:tc>
                  <a:txBody>
                    <a:bodyPr/>
                    <a:lstStyle/>
                    <a:p>
                      <a:r>
                        <a:rPr lang="en-IN" sz="1400" dirty="0">
                          <a:latin typeface="Times New Roman" panose="02020603050405020304" pitchFamily="18" charset="0"/>
                          <a:cs typeface="Times New Roman" panose="02020603050405020304" pitchFamily="18" charset="0"/>
                        </a:rPr>
                        <a:t>More complex pipeline</a:t>
                      </a:r>
                    </a:p>
                  </a:txBody>
                  <a:tcPr/>
                </a:tc>
                <a:extLst>
                  <a:ext uri="{0D108BD9-81ED-4DB2-BD59-A6C34878D82A}">
                    <a16:rowId xmlns:a16="http://schemas.microsoft.com/office/drawing/2014/main" val="2374447366"/>
                  </a:ext>
                </a:extLst>
              </a:tr>
              <a:tr h="816476">
                <a:tc>
                  <a:txBody>
                    <a:bodyPr/>
                    <a:lstStyle/>
                    <a:p>
                      <a:r>
                        <a:rPr lang="en-IN" sz="1400" dirty="0">
                          <a:latin typeface="Times New Roman" panose="02020603050405020304" pitchFamily="18" charset="0"/>
                          <a:cs typeface="Times New Roman" panose="02020603050405020304" pitchFamily="18" charset="0"/>
                        </a:rPr>
                        <a:t>2026</a:t>
                      </a:r>
                    </a:p>
                  </a:txBody>
                  <a:tcPr/>
                </a:tc>
                <a:tc>
                  <a:txBody>
                    <a:bodyPr/>
                    <a:lstStyle/>
                    <a:p>
                      <a:r>
                        <a:rPr lang="en-IN" sz="1400" dirty="0">
                          <a:latin typeface="Times New Roman" panose="02020603050405020304" pitchFamily="18" charset="0"/>
                          <a:cs typeface="Times New Roman" panose="02020603050405020304" pitchFamily="18" charset="0"/>
                        </a:rPr>
                        <a:t>Explainable AI for Employee Turnover Prediction</a:t>
                      </a:r>
                    </a:p>
                  </a:txBody>
                  <a:tcPr/>
                </a:tc>
                <a:tc>
                  <a:txBody>
                    <a:bodyPr/>
                    <a:lstStyle/>
                    <a:p>
                      <a:r>
                        <a:rPr lang="en-IN" sz="1400" dirty="0">
                          <a:latin typeface="Times New Roman" panose="02020603050405020304" pitchFamily="18" charset="0"/>
                          <a:cs typeface="Times New Roman" panose="02020603050405020304" pitchFamily="18" charset="0"/>
                        </a:rPr>
                        <a:t>SHAP + fairness + calibration</a:t>
                      </a:r>
                    </a:p>
                  </a:txBody>
                  <a:tcPr/>
                </a:tc>
                <a:tc>
                  <a:txBody>
                    <a:bodyPr/>
                    <a:lstStyle/>
                    <a:p>
                      <a:r>
                        <a:rPr lang="en-IN" sz="1400" dirty="0">
                          <a:latin typeface="Times New Roman" panose="02020603050405020304" pitchFamily="18" charset="0"/>
                          <a:cs typeface="Times New Roman" panose="02020603050405020304" pitchFamily="18" charset="0"/>
                        </a:rPr>
                        <a:t>Adds subgroup fairness and validation</a:t>
                      </a:r>
                    </a:p>
                  </a:txBody>
                  <a:tcPr/>
                </a:tc>
                <a:tc>
                  <a:txBody>
                    <a:bodyPr/>
                    <a:lstStyle/>
                    <a:p>
                      <a:r>
                        <a:rPr lang="en-IN" sz="1400" dirty="0">
                          <a:latin typeface="Times New Roman" panose="02020603050405020304" pitchFamily="18" charset="0"/>
                          <a:cs typeface="Times New Roman" panose="02020603050405020304" pitchFamily="18" charset="0"/>
                        </a:rPr>
                        <a:t>Shows that responsible deployment needs more than feature importance</a:t>
                      </a:r>
                    </a:p>
                  </a:txBody>
                  <a:tcPr/>
                </a:tc>
                <a:extLst>
                  <a:ext uri="{0D108BD9-81ED-4DB2-BD59-A6C34878D82A}">
                    <a16:rowId xmlns:a16="http://schemas.microsoft.com/office/drawing/2014/main" val="1971794348"/>
                  </a:ext>
                </a:extLst>
              </a:tr>
            </a:tbl>
          </a:graphicData>
        </a:graphic>
      </p:graphicFrame>
    </p:spTree>
    <p:extLst>
      <p:ext uri="{BB962C8B-B14F-4D97-AF65-F5344CB8AC3E}">
        <p14:creationId xmlns:p14="http://schemas.microsoft.com/office/powerpoint/2010/main" val="145771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9D81-6F4B-1D33-1733-848545843473}"/>
              </a:ext>
            </a:extLst>
          </p:cNvPr>
          <p:cNvSpPr>
            <a:spLocks noGrp="1"/>
          </p:cNvSpPr>
          <p:nvPr>
            <p:ph type="title"/>
          </p:nvPr>
        </p:nvSpPr>
        <p:spPr>
          <a:xfrm>
            <a:off x="198929" y="98088"/>
            <a:ext cx="10515600" cy="743484"/>
          </a:xfrm>
        </p:spPr>
        <p:txBody>
          <a:bodyPr>
            <a:normAutofit/>
          </a:bodyPr>
          <a:lstStyle/>
          <a:p>
            <a:r>
              <a:rPr lang="en-IN" sz="3200" dirty="0">
                <a:latin typeface="Times New Roman" panose="02020603050405020304" pitchFamily="18" charset="0"/>
                <a:cs typeface="Times New Roman" panose="02020603050405020304" pitchFamily="18" charset="0"/>
              </a:rPr>
              <a:t>Research Gap</a:t>
            </a:r>
          </a:p>
        </p:txBody>
      </p:sp>
      <p:sp>
        <p:nvSpPr>
          <p:cNvPr id="3" name="Content Placeholder 2">
            <a:extLst>
              <a:ext uri="{FF2B5EF4-FFF2-40B4-BE49-F238E27FC236}">
                <a16:creationId xmlns:a16="http://schemas.microsoft.com/office/drawing/2014/main" id="{15CE327E-5AAB-8C25-0F62-414AB7AF3EF6}"/>
              </a:ext>
            </a:extLst>
          </p:cNvPr>
          <p:cNvSpPr>
            <a:spLocks noGrp="1"/>
          </p:cNvSpPr>
          <p:nvPr>
            <p:ph idx="1"/>
          </p:nvPr>
        </p:nvSpPr>
        <p:spPr>
          <a:xfrm>
            <a:off x="708727" y="1010570"/>
            <a:ext cx="10515600" cy="4351338"/>
          </a:xfrm>
        </p:spPr>
        <p:txBody>
          <a:bodyPr>
            <a:normAutofit/>
          </a:bodyPr>
          <a:lstStyle/>
          <a:p>
            <a:pPr lvl="0"/>
            <a:r>
              <a:rPr lang="en-IN" sz="2400" dirty="0">
                <a:latin typeface="Times New Roman" panose="02020603050405020304" pitchFamily="18" charset="0"/>
                <a:cs typeface="Times New Roman" panose="02020603050405020304" pitchFamily="18" charset="0"/>
              </a:rPr>
              <a:t>Existing research focuses on employee attrition prediction. </a:t>
            </a:r>
          </a:p>
          <a:p>
            <a:pPr lvl="0"/>
            <a:r>
              <a:rPr lang="en-IN" sz="2400" dirty="0">
                <a:latin typeface="Times New Roman" panose="02020603050405020304" pitchFamily="18" charset="0"/>
                <a:cs typeface="Times New Roman" panose="02020603050405020304" pitchFamily="18" charset="0"/>
              </a:rPr>
              <a:t>SHAP is used for model explanations. </a:t>
            </a:r>
          </a:p>
          <a:p>
            <a:pPr lvl="0"/>
            <a:r>
              <a:rPr lang="en-IN" sz="2400" dirty="0">
                <a:latin typeface="Times New Roman" panose="02020603050405020304" pitchFamily="18" charset="0"/>
                <a:cs typeface="Times New Roman" panose="02020603050405020304" pitchFamily="18" charset="0"/>
              </a:rPr>
              <a:t>LIME is used for individual explanations. </a:t>
            </a:r>
          </a:p>
          <a:p>
            <a:pPr lvl="0"/>
            <a:r>
              <a:rPr lang="en-IN" sz="2400" dirty="0">
                <a:latin typeface="Times New Roman" panose="02020603050405020304" pitchFamily="18" charset="0"/>
                <a:cs typeface="Times New Roman" panose="02020603050405020304" pitchFamily="18" charset="0"/>
              </a:rPr>
              <a:t>Ensemble models are used for prediction. </a:t>
            </a:r>
          </a:p>
          <a:p>
            <a:pPr lvl="0"/>
            <a:r>
              <a:rPr lang="en-IN" sz="2400" dirty="0">
                <a:latin typeface="Times New Roman" panose="02020603050405020304" pitchFamily="18" charset="0"/>
                <a:cs typeface="Times New Roman" panose="02020603050405020304" pitchFamily="18" charset="0"/>
              </a:rPr>
              <a:t>Risk scoring is used in some approaches. </a:t>
            </a:r>
          </a:p>
          <a:p>
            <a:pPr lvl="0"/>
            <a:r>
              <a:rPr lang="en-IN" sz="2400" dirty="0">
                <a:latin typeface="Times New Roman" panose="02020603050405020304" pitchFamily="18" charset="0"/>
                <a:cs typeface="Times New Roman" panose="02020603050405020304" pitchFamily="18" charset="0"/>
              </a:rPr>
              <a:t>Fairness analysis is considered in some research. </a:t>
            </a:r>
          </a:p>
          <a:p>
            <a:pPr lvl="0"/>
            <a:r>
              <a:rPr lang="en-IN" sz="2400" dirty="0">
                <a:latin typeface="Times New Roman" panose="02020603050405020304" pitchFamily="18" charset="0"/>
                <a:cs typeface="Times New Roman" panose="02020603050405020304" pitchFamily="18" charset="0"/>
              </a:rPr>
              <a:t>An integrated prediction + explanation + HR decision-support framework is still needed.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10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F12A6-30DD-7D50-B1AD-3C5D1489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265AD-4EB3-0FEB-19CB-BD06E815DF36}"/>
              </a:ext>
            </a:extLst>
          </p:cNvPr>
          <p:cNvSpPr>
            <a:spLocks noGrp="1"/>
          </p:cNvSpPr>
          <p:nvPr>
            <p:ph type="title"/>
          </p:nvPr>
        </p:nvSpPr>
        <p:spPr>
          <a:xfrm>
            <a:off x="64736" y="0"/>
            <a:ext cx="11078671" cy="890125"/>
          </a:xfrm>
        </p:spPr>
        <p:txBody>
          <a:bodyPr>
            <a:normAutofit/>
          </a:bodyPr>
          <a:lstStyle/>
          <a:p>
            <a:r>
              <a:rPr lang="en-IN" sz="3200" dirty="0">
                <a:latin typeface="Times New Roman" panose="02020603050405020304" pitchFamily="18" charset="0"/>
                <a:cs typeface="Times New Roman" panose="02020603050405020304" pitchFamily="18" charset="0"/>
              </a:rPr>
              <a:t>Innovation, Creativity &amp; Novelty</a:t>
            </a:r>
          </a:p>
        </p:txBody>
      </p:sp>
      <p:sp>
        <p:nvSpPr>
          <p:cNvPr id="3" name="Content Placeholder 2">
            <a:extLst>
              <a:ext uri="{FF2B5EF4-FFF2-40B4-BE49-F238E27FC236}">
                <a16:creationId xmlns:a16="http://schemas.microsoft.com/office/drawing/2014/main" id="{4C439480-6D05-91DC-D79C-43339A67B12A}"/>
              </a:ext>
            </a:extLst>
          </p:cNvPr>
          <p:cNvSpPr>
            <a:spLocks noGrp="1"/>
          </p:cNvSpPr>
          <p:nvPr>
            <p:ph idx="1"/>
          </p:nvPr>
        </p:nvSpPr>
        <p:spPr>
          <a:xfrm>
            <a:off x="964300" y="890125"/>
            <a:ext cx="10645073" cy="5473391"/>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Employee Attrition Risk Profile</a:t>
            </a:r>
          </a:p>
          <a:p>
            <a:pPr marL="0" indent="0">
              <a:buNone/>
            </a:pPr>
            <a:r>
              <a:rPr lang="en-IN" sz="2400" dirty="0">
                <a:latin typeface="Times New Roman" panose="02020603050405020304" pitchFamily="18" charset="0"/>
                <a:cs typeface="Times New Roman" panose="02020603050405020304" pitchFamily="18" charset="0"/>
              </a:rPr>
              <a:t>Our system provides:</a:t>
            </a:r>
          </a:p>
          <a:p>
            <a:pPr lvl="0"/>
            <a:r>
              <a:rPr lang="en-IN" sz="2400" dirty="0">
                <a:latin typeface="Times New Roman" panose="02020603050405020304" pitchFamily="18" charset="0"/>
                <a:cs typeface="Times New Roman" panose="02020603050405020304" pitchFamily="18" charset="0"/>
              </a:rPr>
              <a:t>Attrition prediction </a:t>
            </a:r>
          </a:p>
          <a:p>
            <a:pPr lvl="0"/>
            <a:r>
              <a:rPr lang="en-IN" sz="2400" dirty="0">
                <a:latin typeface="Times New Roman" panose="02020603050405020304" pitchFamily="18" charset="0"/>
                <a:cs typeface="Times New Roman" panose="02020603050405020304" pitchFamily="18" charset="0"/>
              </a:rPr>
              <a:t>Attrition probability </a:t>
            </a:r>
          </a:p>
          <a:p>
            <a:pPr lvl="0"/>
            <a:r>
              <a:rPr lang="en-IN" sz="2400" dirty="0">
                <a:latin typeface="Times New Roman" panose="02020603050405020304" pitchFamily="18" charset="0"/>
                <a:cs typeface="Times New Roman" panose="02020603050405020304" pitchFamily="18" charset="0"/>
              </a:rPr>
              <a:t>Important contributing factors </a:t>
            </a:r>
          </a:p>
          <a:p>
            <a:pPr lvl="0"/>
            <a:r>
              <a:rPr lang="en-IN" sz="2400" dirty="0">
                <a:latin typeface="Times New Roman" panose="02020603050405020304" pitchFamily="18" charset="0"/>
                <a:cs typeface="Times New Roman" panose="02020603050405020304" pitchFamily="18" charset="0"/>
              </a:rPr>
              <a:t>SHAP explanation </a:t>
            </a:r>
          </a:p>
          <a:p>
            <a:pPr lvl="0"/>
            <a:r>
              <a:rPr lang="en-IN" sz="2400" dirty="0">
                <a:latin typeface="Times New Roman" panose="02020603050405020304" pitchFamily="18" charset="0"/>
                <a:cs typeface="Times New Roman" panose="02020603050405020304" pitchFamily="18" charset="0"/>
              </a:rPr>
              <a:t>Individual employee explanation </a:t>
            </a:r>
          </a:p>
          <a:p>
            <a:pPr lvl="0"/>
            <a:r>
              <a:rPr lang="en-IN" sz="2400" dirty="0">
                <a:latin typeface="Times New Roman" panose="02020603050405020304" pitchFamily="18" charset="0"/>
                <a:cs typeface="Times New Roman" panose="02020603050405020304" pitchFamily="18" charset="0"/>
              </a:rPr>
              <a:t>Simple HR-oriented output</a:t>
            </a:r>
          </a:p>
          <a:p>
            <a:pPr marL="0" indent="0">
              <a:buNone/>
            </a:pPr>
            <a:endParaRPr lang="en-IN" dirty="0"/>
          </a:p>
        </p:txBody>
      </p:sp>
    </p:spTree>
    <p:extLst>
      <p:ext uri="{BB962C8B-B14F-4D97-AF65-F5344CB8AC3E}">
        <p14:creationId xmlns:p14="http://schemas.microsoft.com/office/powerpoint/2010/main" val="2199623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CF26-7B56-4609-3012-226B60DA67C3}"/>
              </a:ext>
            </a:extLst>
          </p:cNvPr>
          <p:cNvSpPr>
            <a:spLocks noGrp="1"/>
          </p:cNvSpPr>
          <p:nvPr>
            <p:ph type="title"/>
          </p:nvPr>
        </p:nvSpPr>
        <p:spPr>
          <a:xfrm>
            <a:off x="80919" y="89996"/>
            <a:ext cx="10272839" cy="662564"/>
          </a:xfrm>
        </p:spPr>
        <p:txBody>
          <a:bodyPr>
            <a:normAutofit/>
          </a:bodyPr>
          <a:lstStyle/>
          <a:p>
            <a:r>
              <a:rPr lang="en-IN" sz="3200" dirty="0">
                <a:latin typeface="Times New Roman" panose="02020603050405020304" pitchFamily="18" charset="0"/>
                <a:cs typeface="Times New Roman" panose="02020603050405020304" pitchFamily="18" charset="0"/>
              </a:rPr>
              <a:t>Methodology</a:t>
            </a:r>
          </a:p>
        </p:txBody>
      </p:sp>
      <p:sp>
        <p:nvSpPr>
          <p:cNvPr id="7" name="Content Placeholder 6">
            <a:extLst>
              <a:ext uri="{FF2B5EF4-FFF2-40B4-BE49-F238E27FC236}">
                <a16:creationId xmlns:a16="http://schemas.microsoft.com/office/drawing/2014/main" id="{B59C6479-741E-55DD-3E3E-B3AFDC386903}"/>
              </a:ext>
            </a:extLst>
          </p:cNvPr>
          <p:cNvSpPr>
            <a:spLocks noGrp="1"/>
          </p:cNvSpPr>
          <p:nvPr>
            <p:ph idx="1"/>
          </p:nvPr>
        </p:nvSpPr>
        <p:spPr>
          <a:xfrm>
            <a:off x="1242800" y="842556"/>
            <a:ext cx="4672477" cy="5925448"/>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IBM HR Dataset</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Data Preprocessing</a:t>
            </a:r>
            <a:endParaRPr lang="en-IN" sz="18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Missing-value check </a:t>
            </a:r>
          </a:p>
          <a:p>
            <a:pPr marL="0" lvl="0" indent="0">
              <a:buNone/>
            </a:pPr>
            <a:r>
              <a:rPr lang="en-IN" sz="1800" dirty="0">
                <a:latin typeface="Times New Roman" panose="02020603050405020304" pitchFamily="18" charset="0"/>
                <a:cs typeface="Times New Roman" panose="02020603050405020304" pitchFamily="18" charset="0"/>
              </a:rPr>
              <a:t>Duplicate check </a:t>
            </a:r>
          </a:p>
          <a:p>
            <a:pPr marL="0" lvl="0" indent="0">
              <a:buNone/>
            </a:pPr>
            <a:r>
              <a:rPr lang="en-IN" sz="1800" dirty="0">
                <a:latin typeface="Times New Roman" panose="02020603050405020304" pitchFamily="18" charset="0"/>
                <a:cs typeface="Times New Roman" panose="02020603050405020304" pitchFamily="18" charset="0"/>
              </a:rPr>
              <a:t>Remove unnecessary columns </a:t>
            </a:r>
          </a:p>
          <a:p>
            <a:pPr marL="0" lvl="0" indent="0">
              <a:buNone/>
            </a:pPr>
            <a:r>
              <a:rPr lang="en-IN" sz="1800" dirty="0">
                <a:latin typeface="Times New Roman" panose="02020603050405020304" pitchFamily="18" charset="0"/>
                <a:cs typeface="Times New Roman" panose="02020603050405020304" pitchFamily="18" charset="0"/>
              </a:rPr>
              <a:t>Categorical encoding </a:t>
            </a: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Data Balancing</a:t>
            </a: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SMOTE</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Machine Learning</a:t>
            </a:r>
            <a:endParaRPr lang="en-IN" sz="18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Logistic Regression </a:t>
            </a:r>
          </a:p>
          <a:p>
            <a:pPr marL="0" lvl="0" indent="0">
              <a:buNone/>
            </a:pPr>
            <a:r>
              <a:rPr lang="en-IN" sz="1800" dirty="0">
                <a:latin typeface="Times New Roman" panose="02020603050405020304" pitchFamily="18" charset="0"/>
                <a:cs typeface="Times New Roman" panose="02020603050405020304" pitchFamily="18" charset="0"/>
              </a:rPr>
              <a:t>Random Forest </a:t>
            </a:r>
          </a:p>
          <a:p>
            <a:pPr marL="0" lvl="0" indent="0">
              <a:buNone/>
            </a:pPr>
            <a:r>
              <a:rPr lang="en-IN" sz="1800" dirty="0" err="1">
                <a:latin typeface="Times New Roman" panose="02020603050405020304" pitchFamily="18" charset="0"/>
                <a:cs typeface="Times New Roman" panose="02020603050405020304" pitchFamily="18" charset="0"/>
              </a:rPr>
              <a:t>XGBoost</a:t>
            </a: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2CA1F3C-F875-53C8-0BED-4DA7D412675D}"/>
              </a:ext>
            </a:extLst>
          </p:cNvPr>
          <p:cNvSpPr txBox="1"/>
          <p:nvPr/>
        </p:nvSpPr>
        <p:spPr>
          <a:xfrm>
            <a:off x="6635468" y="939660"/>
            <a:ext cx="5114167"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Model Evaluation</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Accuracy </a:t>
            </a:r>
          </a:p>
          <a:p>
            <a:pPr lvl="0"/>
            <a:r>
              <a:rPr lang="en-IN" dirty="0">
                <a:latin typeface="Times New Roman" panose="02020603050405020304" pitchFamily="18" charset="0"/>
                <a:cs typeface="Times New Roman" panose="02020603050405020304" pitchFamily="18" charset="0"/>
              </a:rPr>
              <a:t>Precision </a:t>
            </a:r>
          </a:p>
          <a:p>
            <a:pPr lvl="0"/>
            <a:r>
              <a:rPr lang="en-IN" dirty="0">
                <a:latin typeface="Times New Roman" panose="02020603050405020304" pitchFamily="18" charset="0"/>
                <a:cs typeface="Times New Roman" panose="02020603050405020304" pitchFamily="18" charset="0"/>
              </a:rPr>
              <a:t>Recall </a:t>
            </a:r>
          </a:p>
          <a:p>
            <a:pPr lvl="0"/>
            <a:r>
              <a:rPr lang="en-IN" dirty="0">
                <a:latin typeface="Times New Roman" panose="02020603050405020304" pitchFamily="18" charset="0"/>
                <a:cs typeface="Times New Roman" panose="02020603050405020304" pitchFamily="18" charset="0"/>
              </a:rPr>
              <a:t>F1-Score </a:t>
            </a:r>
          </a:p>
          <a:p>
            <a:pPr lvl="0"/>
            <a:r>
              <a:rPr lang="en-IN" dirty="0">
                <a:latin typeface="Times New Roman" panose="02020603050405020304" pitchFamily="18" charset="0"/>
                <a:cs typeface="Times New Roman" panose="02020603050405020304" pitchFamily="18" charset="0"/>
              </a:rPr>
              <a:t>ROC-AUC </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Explainable AI</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SHAP </a:t>
            </a:r>
          </a:p>
          <a:p>
            <a:pPr lvl="0"/>
            <a:r>
              <a:rPr lang="en-IN" dirty="0">
                <a:latin typeface="Times New Roman" panose="02020603050405020304" pitchFamily="18" charset="0"/>
                <a:cs typeface="Times New Roman" panose="02020603050405020304" pitchFamily="18" charset="0"/>
              </a:rPr>
              <a:t>LIME </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Prediction + Explanation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This is your methodology.</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7732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CC90-2BB9-2FF6-B91F-6388D314AB34}"/>
              </a:ext>
            </a:extLst>
          </p:cNvPr>
          <p:cNvSpPr>
            <a:spLocks noGrp="1"/>
          </p:cNvSpPr>
          <p:nvPr>
            <p:ph type="title"/>
          </p:nvPr>
        </p:nvSpPr>
        <p:spPr>
          <a:xfrm>
            <a:off x="60352" y="130455"/>
            <a:ext cx="11078671" cy="476447"/>
          </a:xfrm>
        </p:spPr>
        <p:txBody>
          <a:bodyPr>
            <a:noAutofit/>
          </a:bodyPr>
          <a:lstStyle/>
          <a:p>
            <a:r>
              <a:rPr lang="en-IN" sz="3200" dirty="0">
                <a:latin typeface="Times New Roman" panose="02020603050405020304" pitchFamily="18" charset="0"/>
                <a:cs typeface="Times New Roman" panose="02020603050405020304" pitchFamily="18" charset="0"/>
              </a:rPr>
              <a:t>System Design</a:t>
            </a:r>
          </a:p>
        </p:txBody>
      </p:sp>
      <p:pic>
        <p:nvPicPr>
          <p:cNvPr id="8" name="Content Placeholder 7">
            <a:extLst>
              <a:ext uri="{FF2B5EF4-FFF2-40B4-BE49-F238E27FC236}">
                <a16:creationId xmlns:a16="http://schemas.microsoft.com/office/drawing/2014/main" id="{398C5780-86C8-3DB0-29D8-0A692AE61DB0}"/>
              </a:ext>
            </a:extLst>
          </p:cNvPr>
          <p:cNvPicPr>
            <a:picLocks noGrp="1" noChangeAspect="1"/>
          </p:cNvPicPr>
          <p:nvPr>
            <p:ph idx="1"/>
          </p:nvPr>
        </p:nvPicPr>
        <p:blipFill>
          <a:blip r:embed="rId2"/>
          <a:stretch>
            <a:fillRect/>
          </a:stretch>
        </p:blipFill>
        <p:spPr>
          <a:xfrm>
            <a:off x="469338" y="1227337"/>
            <a:ext cx="10972799" cy="5081797"/>
          </a:xfrm>
          <a:prstGeom prst="rect">
            <a:avLst/>
          </a:prstGeom>
        </p:spPr>
      </p:pic>
    </p:spTree>
    <p:extLst>
      <p:ext uri="{BB962C8B-B14F-4D97-AF65-F5344CB8AC3E}">
        <p14:creationId xmlns:p14="http://schemas.microsoft.com/office/powerpoint/2010/main" val="901369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4F0D0-7E3A-82A4-1F47-C857D77E6872}"/>
              </a:ext>
            </a:extLst>
          </p:cNvPr>
          <p:cNvSpPr>
            <a:spLocks noGrp="1"/>
          </p:cNvSpPr>
          <p:nvPr>
            <p:ph type="title"/>
          </p:nvPr>
        </p:nvSpPr>
        <p:spPr>
          <a:xfrm>
            <a:off x="0" y="58933"/>
            <a:ext cx="11208143" cy="500723"/>
          </a:xfrm>
        </p:spPr>
        <p:txBody>
          <a:bodyPr>
            <a:noAutofit/>
          </a:bodyPr>
          <a:lstStyle/>
          <a:p>
            <a:r>
              <a:rPr lang="en-IN" sz="3200" dirty="0">
                <a:latin typeface="Times New Roman" panose="02020603050405020304" pitchFamily="18" charset="0"/>
                <a:cs typeface="Times New Roman" panose="02020603050405020304" pitchFamily="18" charset="0"/>
              </a:rPr>
              <a:t>Modern Tools and Technologies</a:t>
            </a:r>
          </a:p>
        </p:txBody>
      </p:sp>
      <p:graphicFrame>
        <p:nvGraphicFramePr>
          <p:cNvPr id="8" name="Table 7">
            <a:extLst>
              <a:ext uri="{FF2B5EF4-FFF2-40B4-BE49-F238E27FC236}">
                <a16:creationId xmlns:a16="http://schemas.microsoft.com/office/drawing/2014/main" id="{12AB4FCE-1D6E-F56E-698C-E6136EA8B7C0}"/>
              </a:ext>
            </a:extLst>
          </p:cNvPr>
          <p:cNvGraphicFramePr>
            <a:graphicFrameLocks noGrp="1"/>
          </p:cNvGraphicFramePr>
          <p:nvPr>
            <p:extLst>
              <p:ext uri="{D42A27DB-BD31-4B8C-83A1-F6EECF244321}">
                <p14:modId xmlns:p14="http://schemas.microsoft.com/office/powerpoint/2010/main" val="1156874235"/>
              </p:ext>
            </p:extLst>
          </p:nvPr>
        </p:nvGraphicFramePr>
        <p:xfrm>
          <a:off x="692543" y="1398460"/>
          <a:ext cx="10515600" cy="4023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4128689744"/>
                    </a:ext>
                  </a:extLst>
                </a:gridCol>
                <a:gridCol w="5257800">
                  <a:extLst>
                    <a:ext uri="{9D8B030D-6E8A-4147-A177-3AD203B41FA5}">
                      <a16:colId xmlns:a16="http://schemas.microsoft.com/office/drawing/2014/main" val="321721798"/>
                    </a:ext>
                  </a:extLst>
                </a:gridCol>
              </a:tblGrid>
              <a:tr h="0">
                <a:tc>
                  <a:txBody>
                    <a:bodyPr/>
                    <a:lstStyle/>
                    <a:p>
                      <a:pPr>
                        <a:buNone/>
                      </a:pPr>
                      <a:r>
                        <a:rPr lang="en-IN" dirty="0"/>
                        <a:t>Category</a:t>
                      </a:r>
                    </a:p>
                  </a:txBody>
                  <a:tcPr anchor="ctr"/>
                </a:tc>
                <a:tc>
                  <a:txBody>
                    <a:bodyPr/>
                    <a:lstStyle/>
                    <a:p>
                      <a:pPr>
                        <a:buNone/>
                      </a:pPr>
                      <a:r>
                        <a:rPr lang="en-IN"/>
                        <a:t>Technology</a:t>
                      </a:r>
                    </a:p>
                  </a:txBody>
                  <a:tcPr anchor="ctr"/>
                </a:tc>
                <a:extLst>
                  <a:ext uri="{0D108BD9-81ED-4DB2-BD59-A6C34878D82A}">
                    <a16:rowId xmlns:a16="http://schemas.microsoft.com/office/drawing/2014/main" val="4197651435"/>
                  </a:ext>
                </a:extLst>
              </a:tr>
              <a:tr h="0">
                <a:tc>
                  <a:txBody>
                    <a:bodyPr/>
                    <a:lstStyle/>
                    <a:p>
                      <a:pPr>
                        <a:buNone/>
                      </a:pPr>
                      <a:r>
                        <a:rPr lang="en-IN"/>
                        <a:t>Programming</a:t>
                      </a:r>
                    </a:p>
                  </a:txBody>
                  <a:tcPr anchor="ctr"/>
                </a:tc>
                <a:tc>
                  <a:txBody>
                    <a:bodyPr/>
                    <a:lstStyle/>
                    <a:p>
                      <a:pPr>
                        <a:buNone/>
                      </a:pPr>
                      <a:r>
                        <a:rPr lang="en-IN"/>
                        <a:t>Python</a:t>
                      </a:r>
                    </a:p>
                  </a:txBody>
                  <a:tcPr anchor="ctr"/>
                </a:tc>
                <a:extLst>
                  <a:ext uri="{0D108BD9-81ED-4DB2-BD59-A6C34878D82A}">
                    <a16:rowId xmlns:a16="http://schemas.microsoft.com/office/drawing/2014/main" val="169973589"/>
                  </a:ext>
                </a:extLst>
              </a:tr>
              <a:tr h="0">
                <a:tc>
                  <a:txBody>
                    <a:bodyPr/>
                    <a:lstStyle/>
                    <a:p>
                      <a:pPr>
                        <a:buNone/>
                      </a:pPr>
                      <a:r>
                        <a:rPr lang="en-IN"/>
                        <a:t>Data Processing</a:t>
                      </a:r>
                    </a:p>
                  </a:txBody>
                  <a:tcPr anchor="ctr"/>
                </a:tc>
                <a:tc>
                  <a:txBody>
                    <a:bodyPr/>
                    <a:lstStyle/>
                    <a:p>
                      <a:pPr>
                        <a:buNone/>
                      </a:pPr>
                      <a:r>
                        <a:rPr lang="en-IN"/>
                        <a:t>Pandas, NumPy</a:t>
                      </a:r>
                    </a:p>
                  </a:txBody>
                  <a:tcPr anchor="ctr"/>
                </a:tc>
                <a:extLst>
                  <a:ext uri="{0D108BD9-81ED-4DB2-BD59-A6C34878D82A}">
                    <a16:rowId xmlns:a16="http://schemas.microsoft.com/office/drawing/2014/main" val="890039811"/>
                  </a:ext>
                </a:extLst>
              </a:tr>
              <a:tr h="0">
                <a:tc>
                  <a:txBody>
                    <a:bodyPr/>
                    <a:lstStyle/>
                    <a:p>
                      <a:pPr>
                        <a:buNone/>
                      </a:pPr>
                      <a:r>
                        <a:rPr lang="en-IN"/>
                        <a:t>Machine Learning</a:t>
                      </a:r>
                    </a:p>
                  </a:txBody>
                  <a:tcPr anchor="ctr"/>
                </a:tc>
                <a:tc>
                  <a:txBody>
                    <a:bodyPr/>
                    <a:lstStyle/>
                    <a:p>
                      <a:pPr>
                        <a:buNone/>
                      </a:pPr>
                      <a:r>
                        <a:rPr lang="en-IN"/>
                        <a:t>Scikit-learn, XGBoost</a:t>
                      </a:r>
                    </a:p>
                  </a:txBody>
                  <a:tcPr anchor="ctr"/>
                </a:tc>
                <a:extLst>
                  <a:ext uri="{0D108BD9-81ED-4DB2-BD59-A6C34878D82A}">
                    <a16:rowId xmlns:a16="http://schemas.microsoft.com/office/drawing/2014/main" val="72366965"/>
                  </a:ext>
                </a:extLst>
              </a:tr>
              <a:tr h="0">
                <a:tc>
                  <a:txBody>
                    <a:bodyPr/>
                    <a:lstStyle/>
                    <a:p>
                      <a:pPr>
                        <a:buNone/>
                      </a:pPr>
                      <a:r>
                        <a:rPr lang="en-IN"/>
                        <a:t>Data Balancing</a:t>
                      </a:r>
                    </a:p>
                  </a:txBody>
                  <a:tcPr anchor="ctr"/>
                </a:tc>
                <a:tc>
                  <a:txBody>
                    <a:bodyPr/>
                    <a:lstStyle/>
                    <a:p>
                      <a:pPr>
                        <a:buNone/>
                      </a:pPr>
                      <a:r>
                        <a:rPr lang="en-IN"/>
                        <a:t>SMOTE</a:t>
                      </a:r>
                    </a:p>
                  </a:txBody>
                  <a:tcPr anchor="ctr"/>
                </a:tc>
                <a:extLst>
                  <a:ext uri="{0D108BD9-81ED-4DB2-BD59-A6C34878D82A}">
                    <a16:rowId xmlns:a16="http://schemas.microsoft.com/office/drawing/2014/main" val="1708051317"/>
                  </a:ext>
                </a:extLst>
              </a:tr>
              <a:tr h="0">
                <a:tc>
                  <a:txBody>
                    <a:bodyPr/>
                    <a:lstStyle/>
                    <a:p>
                      <a:pPr>
                        <a:buNone/>
                      </a:pPr>
                      <a:r>
                        <a:rPr lang="en-IN"/>
                        <a:t>Explainable AI</a:t>
                      </a:r>
                    </a:p>
                  </a:txBody>
                  <a:tcPr anchor="ctr"/>
                </a:tc>
                <a:tc>
                  <a:txBody>
                    <a:bodyPr/>
                    <a:lstStyle/>
                    <a:p>
                      <a:pPr>
                        <a:buNone/>
                      </a:pPr>
                      <a:r>
                        <a:rPr lang="en-IN"/>
                        <a:t>SHAP, LIME</a:t>
                      </a:r>
                    </a:p>
                  </a:txBody>
                  <a:tcPr anchor="ctr"/>
                </a:tc>
                <a:extLst>
                  <a:ext uri="{0D108BD9-81ED-4DB2-BD59-A6C34878D82A}">
                    <a16:rowId xmlns:a16="http://schemas.microsoft.com/office/drawing/2014/main" val="3152121311"/>
                  </a:ext>
                </a:extLst>
              </a:tr>
              <a:tr h="0">
                <a:tc>
                  <a:txBody>
                    <a:bodyPr/>
                    <a:lstStyle/>
                    <a:p>
                      <a:pPr>
                        <a:buNone/>
                      </a:pPr>
                      <a:r>
                        <a:rPr lang="en-IN"/>
                        <a:t>Backend</a:t>
                      </a:r>
                    </a:p>
                  </a:txBody>
                  <a:tcPr anchor="ctr"/>
                </a:tc>
                <a:tc>
                  <a:txBody>
                    <a:bodyPr/>
                    <a:lstStyle/>
                    <a:p>
                      <a:pPr>
                        <a:buNone/>
                      </a:pPr>
                      <a:r>
                        <a:rPr lang="en-IN"/>
                        <a:t>Flask, Flask-CORS</a:t>
                      </a:r>
                    </a:p>
                  </a:txBody>
                  <a:tcPr anchor="ctr"/>
                </a:tc>
                <a:extLst>
                  <a:ext uri="{0D108BD9-81ED-4DB2-BD59-A6C34878D82A}">
                    <a16:rowId xmlns:a16="http://schemas.microsoft.com/office/drawing/2014/main" val="3862956121"/>
                  </a:ext>
                </a:extLst>
              </a:tr>
              <a:tr h="0">
                <a:tc>
                  <a:txBody>
                    <a:bodyPr/>
                    <a:lstStyle/>
                    <a:p>
                      <a:pPr>
                        <a:buNone/>
                      </a:pPr>
                      <a:r>
                        <a:rPr lang="en-IN"/>
                        <a:t>Frontend</a:t>
                      </a:r>
                    </a:p>
                  </a:txBody>
                  <a:tcPr anchor="ctr"/>
                </a:tc>
                <a:tc>
                  <a:txBody>
                    <a:bodyPr/>
                    <a:lstStyle/>
                    <a:p>
                      <a:pPr>
                        <a:buNone/>
                      </a:pPr>
                      <a:r>
                        <a:rPr lang="en-IN"/>
                        <a:t>HTML, CSS, JavaScript</a:t>
                      </a:r>
                    </a:p>
                  </a:txBody>
                  <a:tcPr anchor="ctr"/>
                </a:tc>
                <a:extLst>
                  <a:ext uri="{0D108BD9-81ED-4DB2-BD59-A6C34878D82A}">
                    <a16:rowId xmlns:a16="http://schemas.microsoft.com/office/drawing/2014/main" val="222661625"/>
                  </a:ext>
                </a:extLst>
              </a:tr>
              <a:tr h="0">
                <a:tc>
                  <a:txBody>
                    <a:bodyPr/>
                    <a:lstStyle/>
                    <a:p>
                      <a:pPr>
                        <a:buNone/>
                      </a:pPr>
                      <a:r>
                        <a:rPr lang="en-IN"/>
                        <a:t>Dataset</a:t>
                      </a:r>
                    </a:p>
                  </a:txBody>
                  <a:tcPr anchor="ctr"/>
                </a:tc>
                <a:tc>
                  <a:txBody>
                    <a:bodyPr/>
                    <a:lstStyle/>
                    <a:p>
                      <a:pPr>
                        <a:buNone/>
                      </a:pPr>
                      <a:r>
                        <a:rPr lang="en-IN"/>
                        <a:t>IBM HR Employee Attrition Dataset</a:t>
                      </a:r>
                    </a:p>
                  </a:txBody>
                  <a:tcPr anchor="ctr"/>
                </a:tc>
                <a:extLst>
                  <a:ext uri="{0D108BD9-81ED-4DB2-BD59-A6C34878D82A}">
                    <a16:rowId xmlns:a16="http://schemas.microsoft.com/office/drawing/2014/main" val="332650076"/>
                  </a:ext>
                </a:extLst>
              </a:tr>
              <a:tr h="0">
                <a:tc>
                  <a:txBody>
                    <a:bodyPr/>
                    <a:lstStyle/>
                    <a:p>
                      <a:pPr>
                        <a:buNone/>
                      </a:pPr>
                      <a:r>
                        <a:rPr lang="en-IN"/>
                        <a:t>Model Saving</a:t>
                      </a:r>
                    </a:p>
                  </a:txBody>
                  <a:tcPr anchor="ctr"/>
                </a:tc>
                <a:tc>
                  <a:txBody>
                    <a:bodyPr/>
                    <a:lstStyle/>
                    <a:p>
                      <a:pPr>
                        <a:buNone/>
                      </a:pPr>
                      <a:r>
                        <a:rPr lang="en-IN"/>
                        <a:t>Joblib</a:t>
                      </a:r>
                    </a:p>
                  </a:txBody>
                  <a:tcPr anchor="ctr"/>
                </a:tc>
                <a:extLst>
                  <a:ext uri="{0D108BD9-81ED-4DB2-BD59-A6C34878D82A}">
                    <a16:rowId xmlns:a16="http://schemas.microsoft.com/office/drawing/2014/main" val="2868944486"/>
                  </a:ext>
                </a:extLst>
              </a:tr>
              <a:tr h="0">
                <a:tc>
                  <a:txBody>
                    <a:bodyPr/>
                    <a:lstStyle/>
                    <a:p>
                      <a:pPr>
                        <a:buNone/>
                      </a:pPr>
                      <a:r>
                        <a:rPr lang="en-IN"/>
                        <a:t>Development</a:t>
                      </a:r>
                    </a:p>
                  </a:txBody>
                  <a:tcPr anchor="ctr"/>
                </a:tc>
                <a:tc>
                  <a:txBody>
                    <a:bodyPr/>
                    <a:lstStyle/>
                    <a:p>
                      <a:pPr>
                        <a:buNone/>
                      </a:pPr>
                      <a:r>
                        <a:rPr lang="en-IN" dirty="0"/>
                        <a:t>VS Code, Git/GitHub</a:t>
                      </a:r>
                    </a:p>
                  </a:txBody>
                  <a:tcPr anchor="ctr"/>
                </a:tc>
                <a:extLst>
                  <a:ext uri="{0D108BD9-81ED-4DB2-BD59-A6C34878D82A}">
                    <a16:rowId xmlns:a16="http://schemas.microsoft.com/office/drawing/2014/main" val="3291513295"/>
                  </a:ext>
                </a:extLst>
              </a:tr>
            </a:tbl>
          </a:graphicData>
        </a:graphic>
      </p:graphicFrame>
    </p:spTree>
    <p:extLst>
      <p:ext uri="{BB962C8B-B14F-4D97-AF65-F5344CB8AC3E}">
        <p14:creationId xmlns:p14="http://schemas.microsoft.com/office/powerpoint/2010/main" val="128423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CE34-63FA-9D00-FA96-752C163EBDE1}"/>
              </a:ext>
            </a:extLst>
          </p:cNvPr>
          <p:cNvSpPr>
            <a:spLocks noGrp="1"/>
          </p:cNvSpPr>
          <p:nvPr>
            <p:ph type="title"/>
          </p:nvPr>
        </p:nvSpPr>
        <p:spPr>
          <a:xfrm>
            <a:off x="0" y="0"/>
            <a:ext cx="10876371" cy="605920"/>
          </a:xfrm>
        </p:spPr>
        <p:txBody>
          <a:bodyPr>
            <a:normAutofit/>
          </a:bodyPr>
          <a:lstStyle/>
          <a:p>
            <a:r>
              <a:rPr lang="en-IN" sz="3200"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D312FA67-81E0-8FEC-B590-D7CA0FA3B65F}"/>
              </a:ext>
            </a:extLst>
          </p:cNvPr>
          <p:cNvSpPr>
            <a:spLocks noGrp="1"/>
          </p:cNvSpPr>
          <p:nvPr>
            <p:ph idx="1"/>
          </p:nvPr>
        </p:nvSpPr>
        <p:spPr>
          <a:xfrm>
            <a:off x="695916" y="1011503"/>
            <a:ext cx="5494492" cy="5165459"/>
          </a:xfrm>
        </p:spPr>
        <p:txBody>
          <a:bodyPr>
            <a:normAutofit lnSpcReduction="10000"/>
          </a:bodyPr>
          <a:lstStyle/>
          <a:p>
            <a:pPr marL="0" indent="0">
              <a:buNone/>
            </a:pPr>
            <a:r>
              <a:rPr lang="en-IN" sz="2000" b="1" dirty="0">
                <a:latin typeface="Times New Roman" panose="02020603050405020304" pitchFamily="18" charset="0"/>
                <a:cs typeface="Times New Roman" panose="02020603050405020304" pitchFamily="18" charset="0"/>
              </a:rPr>
              <a:t>Dataset</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IBM HR Employee Attrition Dataset </a:t>
            </a:r>
          </a:p>
          <a:p>
            <a:pPr lvl="0"/>
            <a:r>
              <a:rPr lang="en-IN" sz="2000" b="1" dirty="0">
                <a:latin typeface="Times New Roman" panose="02020603050405020304" pitchFamily="18" charset="0"/>
                <a:cs typeface="Times New Roman" panose="02020603050405020304" pitchFamily="18" charset="0"/>
              </a:rPr>
              <a:t>1,470 employees</a:t>
            </a:r>
            <a:r>
              <a:rPr lang="en-IN" sz="2000" dirty="0">
                <a:latin typeface="Times New Roman" panose="02020603050405020304" pitchFamily="18" charset="0"/>
                <a:cs typeface="Times New Roman" panose="02020603050405020304" pitchFamily="18" charset="0"/>
              </a:rPr>
              <a:t> </a:t>
            </a:r>
          </a:p>
          <a:p>
            <a:pPr lvl="0"/>
            <a:r>
              <a:rPr lang="en-IN" sz="2000" b="1" dirty="0">
                <a:latin typeface="Times New Roman" panose="02020603050405020304" pitchFamily="18" charset="0"/>
                <a:cs typeface="Times New Roman" panose="02020603050405020304" pitchFamily="18" charset="0"/>
              </a:rPr>
              <a:t>35 original features</a:t>
            </a:r>
            <a:r>
              <a:rPr lang="en-IN" sz="2000" dirty="0">
                <a:latin typeface="Times New Roman" panose="02020603050405020304" pitchFamily="18" charset="0"/>
                <a:cs typeface="Times New Roman" panose="02020603050405020304" pitchFamily="18" charset="0"/>
              </a:rPr>
              <a:t> </a:t>
            </a:r>
          </a:p>
          <a:p>
            <a:pPr marL="0" indent="0">
              <a:buNone/>
            </a:pPr>
            <a:r>
              <a:rPr lang="en-IN" sz="2000" b="1" dirty="0">
                <a:latin typeface="Times New Roman" panose="02020603050405020304" pitchFamily="18" charset="0"/>
                <a:cs typeface="Times New Roman" panose="02020603050405020304" pitchFamily="18" charset="0"/>
              </a:rPr>
              <a:t>Preprocessing</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Removed unnecessary columns </a:t>
            </a:r>
          </a:p>
          <a:p>
            <a:pPr lvl="0"/>
            <a:r>
              <a:rPr lang="en-IN" sz="2000" dirty="0">
                <a:latin typeface="Times New Roman" panose="02020603050405020304" pitchFamily="18" charset="0"/>
                <a:cs typeface="Times New Roman" panose="02020603050405020304" pitchFamily="18" charset="0"/>
              </a:rPr>
              <a:t>One-hot encoded categorical features </a:t>
            </a:r>
          </a:p>
          <a:p>
            <a:pPr lvl="0"/>
            <a:r>
              <a:rPr lang="en-IN" sz="2000" dirty="0">
                <a:latin typeface="Times New Roman" panose="02020603050405020304" pitchFamily="18" charset="0"/>
                <a:cs typeface="Times New Roman" panose="02020603050405020304" pitchFamily="18" charset="0"/>
              </a:rPr>
              <a:t>Final model features: </a:t>
            </a:r>
            <a:r>
              <a:rPr lang="en-IN" sz="2000" b="1" dirty="0">
                <a:latin typeface="Times New Roman" panose="02020603050405020304" pitchFamily="18" charset="0"/>
                <a:cs typeface="Times New Roman" panose="02020603050405020304" pitchFamily="18" charset="0"/>
              </a:rPr>
              <a:t>44</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Applied SMOTE to training data </a:t>
            </a:r>
          </a:p>
          <a:p>
            <a:pPr marL="0" indent="0">
              <a:buNone/>
            </a:pPr>
            <a:r>
              <a:rPr lang="en-IN" sz="2000" b="1" dirty="0">
                <a:latin typeface="Times New Roman" panose="02020603050405020304" pitchFamily="18" charset="0"/>
                <a:cs typeface="Times New Roman" panose="02020603050405020304" pitchFamily="18" charset="0"/>
              </a:rPr>
              <a:t>Models</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Logistic Regression </a:t>
            </a:r>
          </a:p>
          <a:p>
            <a:pPr lvl="0"/>
            <a:r>
              <a:rPr lang="en-IN" sz="2000" dirty="0">
                <a:latin typeface="Times New Roman" panose="02020603050405020304" pitchFamily="18" charset="0"/>
                <a:cs typeface="Times New Roman" panose="02020603050405020304" pitchFamily="18" charset="0"/>
              </a:rPr>
              <a:t>Random Forest </a:t>
            </a:r>
          </a:p>
          <a:p>
            <a:pPr lvl="0"/>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EA8AB1-FEA4-E72E-1FC9-1F94D5A56E2D}"/>
              </a:ext>
            </a:extLst>
          </p:cNvPr>
          <p:cNvSpPr txBox="1"/>
          <p:nvPr/>
        </p:nvSpPr>
        <p:spPr>
          <a:xfrm>
            <a:off x="6993203" y="1011503"/>
            <a:ext cx="5004587" cy="347787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Explainability</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SHAP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LIME </a:t>
            </a:r>
          </a:p>
          <a:p>
            <a:r>
              <a:rPr lang="en-IN" sz="2000" b="1" dirty="0">
                <a:latin typeface="Times New Roman" panose="02020603050405020304" pitchFamily="18" charset="0"/>
                <a:cs typeface="Times New Roman" panose="02020603050405020304" pitchFamily="18" charset="0"/>
              </a:rPr>
              <a:t>Application</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Flask backend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HTML/CSS/JavaScript frontend </a:t>
            </a:r>
          </a:p>
          <a:p>
            <a:r>
              <a:rPr lang="en-IN" sz="2000" b="1" dirty="0">
                <a:latin typeface="Times New Roman" panose="02020603050405020304" pitchFamily="18" charset="0"/>
                <a:cs typeface="Times New Roman" panose="02020603050405020304" pitchFamily="18" charset="0"/>
              </a:rPr>
              <a:t>Output</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Attrition / No Attrition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Attrition probability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Top contributing factors </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076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74BF-8971-DEFE-908D-0DBDC15BDDCE}"/>
              </a:ext>
            </a:extLst>
          </p:cNvPr>
          <p:cNvSpPr>
            <a:spLocks noGrp="1"/>
          </p:cNvSpPr>
          <p:nvPr>
            <p:ph type="title"/>
          </p:nvPr>
        </p:nvSpPr>
        <p:spPr>
          <a:xfrm>
            <a:off x="0" y="0"/>
            <a:ext cx="10439400" cy="654907"/>
          </a:xfrm>
        </p:spPr>
        <p:txBody>
          <a:bodyPr>
            <a:normAutofit/>
          </a:bodyPr>
          <a:lstStyle/>
          <a:p>
            <a:r>
              <a:rPr lang="en-IN" sz="3200" dirty="0">
                <a:latin typeface="Times New Roman" panose="02020603050405020304" pitchFamily="18" charset="0"/>
                <a:cs typeface="Times New Roman" panose="02020603050405020304" pitchFamily="18" charset="0"/>
              </a:rPr>
              <a:t>Results</a:t>
            </a:r>
          </a:p>
        </p:txBody>
      </p:sp>
      <p:graphicFrame>
        <p:nvGraphicFramePr>
          <p:cNvPr id="4" name="Content Placeholder 3">
            <a:extLst>
              <a:ext uri="{FF2B5EF4-FFF2-40B4-BE49-F238E27FC236}">
                <a16:creationId xmlns:a16="http://schemas.microsoft.com/office/drawing/2014/main" id="{1CA0775D-3821-B40A-2D82-E0A7D939CC77}"/>
              </a:ext>
            </a:extLst>
          </p:cNvPr>
          <p:cNvGraphicFramePr>
            <a:graphicFrameLocks noGrp="1"/>
          </p:cNvGraphicFramePr>
          <p:nvPr>
            <p:ph idx="1"/>
            <p:extLst>
              <p:ext uri="{D42A27DB-BD31-4B8C-83A1-F6EECF244321}">
                <p14:modId xmlns:p14="http://schemas.microsoft.com/office/powerpoint/2010/main" val="3751328306"/>
              </p:ext>
            </p:extLst>
          </p:nvPr>
        </p:nvGraphicFramePr>
        <p:xfrm>
          <a:off x="492266" y="1432289"/>
          <a:ext cx="11207467" cy="3566369"/>
        </p:xfrm>
        <a:graphic>
          <a:graphicData uri="http://schemas.openxmlformats.org/drawingml/2006/table">
            <a:tbl>
              <a:tblPr>
                <a:tableStyleId>{5C22544A-7EE6-4342-B048-85BDC9FD1C3A}</a:tableStyleId>
              </a:tblPr>
              <a:tblGrid>
                <a:gridCol w="2274326">
                  <a:extLst>
                    <a:ext uri="{9D8B030D-6E8A-4147-A177-3AD203B41FA5}">
                      <a16:colId xmlns:a16="http://schemas.microsoft.com/office/drawing/2014/main" val="4017122256"/>
                    </a:ext>
                  </a:extLst>
                </a:gridCol>
                <a:gridCol w="1940017">
                  <a:extLst>
                    <a:ext uri="{9D8B030D-6E8A-4147-A177-3AD203B41FA5}">
                      <a16:colId xmlns:a16="http://schemas.microsoft.com/office/drawing/2014/main" val="1979701389"/>
                    </a:ext>
                  </a:extLst>
                </a:gridCol>
                <a:gridCol w="1940017">
                  <a:extLst>
                    <a:ext uri="{9D8B030D-6E8A-4147-A177-3AD203B41FA5}">
                      <a16:colId xmlns:a16="http://schemas.microsoft.com/office/drawing/2014/main" val="2196831959"/>
                    </a:ext>
                  </a:extLst>
                </a:gridCol>
                <a:gridCol w="1684369">
                  <a:extLst>
                    <a:ext uri="{9D8B030D-6E8A-4147-A177-3AD203B41FA5}">
                      <a16:colId xmlns:a16="http://schemas.microsoft.com/office/drawing/2014/main" val="1895032013"/>
                    </a:ext>
                  </a:extLst>
                </a:gridCol>
                <a:gridCol w="1684369">
                  <a:extLst>
                    <a:ext uri="{9D8B030D-6E8A-4147-A177-3AD203B41FA5}">
                      <a16:colId xmlns:a16="http://schemas.microsoft.com/office/drawing/2014/main" val="2609645"/>
                    </a:ext>
                  </a:extLst>
                </a:gridCol>
                <a:gridCol w="1684369">
                  <a:extLst>
                    <a:ext uri="{9D8B030D-6E8A-4147-A177-3AD203B41FA5}">
                      <a16:colId xmlns:a16="http://schemas.microsoft.com/office/drawing/2014/main" val="2383775844"/>
                    </a:ext>
                  </a:extLst>
                </a:gridCol>
              </a:tblGrid>
              <a:tr h="992303">
                <a:tc>
                  <a:txBody>
                    <a:bodyPr/>
                    <a:lstStyle/>
                    <a:p>
                      <a:pPr>
                        <a:buNone/>
                      </a:pPr>
                      <a:r>
                        <a:rPr lang="en-IN" sz="2700" dirty="0"/>
                        <a:t>Model</a:t>
                      </a:r>
                    </a:p>
                  </a:txBody>
                  <a:tcPr marL="136639" marR="136639" marT="68320" marB="68320" anchor="ctr"/>
                </a:tc>
                <a:tc>
                  <a:txBody>
                    <a:bodyPr/>
                    <a:lstStyle/>
                    <a:p>
                      <a:pPr algn="r">
                        <a:buNone/>
                      </a:pPr>
                      <a:r>
                        <a:rPr lang="en-IN" sz="2700"/>
                        <a:t>Accuracy</a:t>
                      </a:r>
                    </a:p>
                  </a:txBody>
                  <a:tcPr marL="136639" marR="136639" marT="68320" marB="68320" anchor="ctr"/>
                </a:tc>
                <a:tc>
                  <a:txBody>
                    <a:bodyPr/>
                    <a:lstStyle/>
                    <a:p>
                      <a:pPr algn="r">
                        <a:buNone/>
                      </a:pPr>
                      <a:r>
                        <a:rPr lang="en-IN" sz="2700"/>
                        <a:t>Precision</a:t>
                      </a:r>
                    </a:p>
                  </a:txBody>
                  <a:tcPr marL="136639" marR="136639" marT="68320" marB="68320" anchor="ctr"/>
                </a:tc>
                <a:tc>
                  <a:txBody>
                    <a:bodyPr/>
                    <a:lstStyle/>
                    <a:p>
                      <a:pPr algn="r">
                        <a:buNone/>
                      </a:pPr>
                      <a:r>
                        <a:rPr lang="en-IN" sz="2700"/>
                        <a:t>Recall</a:t>
                      </a:r>
                    </a:p>
                  </a:txBody>
                  <a:tcPr marL="136639" marR="136639" marT="68320" marB="68320" anchor="ctr"/>
                </a:tc>
                <a:tc>
                  <a:txBody>
                    <a:bodyPr/>
                    <a:lstStyle/>
                    <a:p>
                      <a:pPr algn="r">
                        <a:buNone/>
                      </a:pPr>
                      <a:r>
                        <a:rPr lang="en-IN" sz="2700"/>
                        <a:t>F1</a:t>
                      </a:r>
                    </a:p>
                  </a:txBody>
                  <a:tcPr marL="136639" marR="136639" marT="68320" marB="68320" anchor="ctr"/>
                </a:tc>
                <a:tc>
                  <a:txBody>
                    <a:bodyPr/>
                    <a:lstStyle/>
                    <a:p>
                      <a:pPr algn="r">
                        <a:buNone/>
                      </a:pPr>
                      <a:r>
                        <a:rPr lang="en-IN" sz="2700"/>
                        <a:t>ROC-AUC</a:t>
                      </a:r>
                    </a:p>
                  </a:txBody>
                  <a:tcPr marL="136639" marR="136639" marT="68320" marB="68320" anchor="ctr"/>
                </a:tc>
                <a:extLst>
                  <a:ext uri="{0D108BD9-81ED-4DB2-BD59-A6C34878D82A}">
                    <a16:rowId xmlns:a16="http://schemas.microsoft.com/office/drawing/2014/main" val="537020171"/>
                  </a:ext>
                </a:extLst>
              </a:tr>
              <a:tr h="992303">
                <a:tc>
                  <a:txBody>
                    <a:bodyPr/>
                    <a:lstStyle/>
                    <a:p>
                      <a:pPr>
                        <a:buNone/>
                      </a:pPr>
                      <a:r>
                        <a:rPr lang="en-IN" sz="2700"/>
                        <a:t>Logistic Regression</a:t>
                      </a:r>
                    </a:p>
                  </a:txBody>
                  <a:tcPr marL="136639" marR="136639" marT="68320" marB="68320" anchor="ctr"/>
                </a:tc>
                <a:tc>
                  <a:txBody>
                    <a:bodyPr/>
                    <a:lstStyle/>
                    <a:p>
                      <a:pPr algn="r">
                        <a:buNone/>
                      </a:pPr>
                      <a:r>
                        <a:rPr lang="en-IN" sz="2700"/>
                        <a:t>85.71%</a:t>
                      </a:r>
                    </a:p>
                  </a:txBody>
                  <a:tcPr marL="136639" marR="136639" marT="68320" marB="68320" anchor="ctr"/>
                </a:tc>
                <a:tc>
                  <a:txBody>
                    <a:bodyPr/>
                    <a:lstStyle/>
                    <a:p>
                      <a:pPr algn="r">
                        <a:buNone/>
                      </a:pPr>
                      <a:r>
                        <a:rPr lang="en-IN" sz="2700"/>
                        <a:t>57.14%</a:t>
                      </a:r>
                    </a:p>
                  </a:txBody>
                  <a:tcPr marL="136639" marR="136639" marT="68320" marB="68320" anchor="ctr"/>
                </a:tc>
                <a:tc>
                  <a:txBody>
                    <a:bodyPr/>
                    <a:lstStyle/>
                    <a:p>
                      <a:pPr algn="r">
                        <a:buNone/>
                      </a:pPr>
                      <a:r>
                        <a:rPr lang="en-IN" sz="2700"/>
                        <a:t>42.55%</a:t>
                      </a:r>
                    </a:p>
                  </a:txBody>
                  <a:tcPr marL="136639" marR="136639" marT="68320" marB="68320" anchor="ctr"/>
                </a:tc>
                <a:tc>
                  <a:txBody>
                    <a:bodyPr/>
                    <a:lstStyle/>
                    <a:p>
                      <a:pPr algn="r">
                        <a:buNone/>
                      </a:pPr>
                      <a:r>
                        <a:rPr lang="en-IN" sz="2700"/>
                        <a:t>48.78%</a:t>
                      </a:r>
                    </a:p>
                  </a:txBody>
                  <a:tcPr marL="136639" marR="136639" marT="68320" marB="68320" anchor="ctr"/>
                </a:tc>
                <a:tc>
                  <a:txBody>
                    <a:bodyPr/>
                    <a:lstStyle/>
                    <a:p>
                      <a:pPr algn="r">
                        <a:buNone/>
                      </a:pPr>
                      <a:r>
                        <a:rPr lang="en-IN" sz="2700"/>
                        <a:t>72.08%</a:t>
                      </a:r>
                    </a:p>
                  </a:txBody>
                  <a:tcPr marL="136639" marR="136639" marT="68320" marB="68320" anchor="ctr"/>
                </a:tc>
                <a:extLst>
                  <a:ext uri="{0D108BD9-81ED-4DB2-BD59-A6C34878D82A}">
                    <a16:rowId xmlns:a16="http://schemas.microsoft.com/office/drawing/2014/main" val="1715346182"/>
                  </a:ext>
                </a:extLst>
              </a:tr>
              <a:tr h="992303">
                <a:tc>
                  <a:txBody>
                    <a:bodyPr/>
                    <a:lstStyle/>
                    <a:p>
                      <a:pPr>
                        <a:buNone/>
                      </a:pPr>
                      <a:r>
                        <a:rPr lang="en-IN" sz="2700"/>
                        <a:t>Random Forest</a:t>
                      </a:r>
                    </a:p>
                  </a:txBody>
                  <a:tcPr marL="136639" marR="136639" marT="68320" marB="68320" anchor="ctr"/>
                </a:tc>
                <a:tc>
                  <a:txBody>
                    <a:bodyPr/>
                    <a:lstStyle/>
                    <a:p>
                      <a:pPr algn="r">
                        <a:buNone/>
                      </a:pPr>
                      <a:r>
                        <a:rPr lang="en-IN" sz="2700"/>
                        <a:t>81.97%</a:t>
                      </a:r>
                    </a:p>
                  </a:txBody>
                  <a:tcPr marL="136639" marR="136639" marT="68320" marB="68320" anchor="ctr"/>
                </a:tc>
                <a:tc>
                  <a:txBody>
                    <a:bodyPr/>
                    <a:lstStyle/>
                    <a:p>
                      <a:pPr algn="r">
                        <a:buNone/>
                      </a:pPr>
                      <a:r>
                        <a:rPr lang="en-IN" sz="2700"/>
                        <a:t>39.29%</a:t>
                      </a:r>
                    </a:p>
                  </a:txBody>
                  <a:tcPr marL="136639" marR="136639" marT="68320" marB="68320" anchor="ctr"/>
                </a:tc>
                <a:tc>
                  <a:txBody>
                    <a:bodyPr/>
                    <a:lstStyle/>
                    <a:p>
                      <a:pPr algn="r">
                        <a:buNone/>
                      </a:pPr>
                      <a:r>
                        <a:rPr lang="en-IN" sz="2700"/>
                        <a:t>23.40%</a:t>
                      </a:r>
                    </a:p>
                  </a:txBody>
                  <a:tcPr marL="136639" marR="136639" marT="68320" marB="68320" anchor="ctr"/>
                </a:tc>
                <a:tc>
                  <a:txBody>
                    <a:bodyPr/>
                    <a:lstStyle/>
                    <a:p>
                      <a:pPr algn="r">
                        <a:buNone/>
                      </a:pPr>
                      <a:r>
                        <a:rPr lang="en-IN" sz="2700"/>
                        <a:t>29.33%</a:t>
                      </a:r>
                    </a:p>
                  </a:txBody>
                  <a:tcPr marL="136639" marR="136639" marT="68320" marB="68320" anchor="ctr"/>
                </a:tc>
                <a:tc>
                  <a:txBody>
                    <a:bodyPr/>
                    <a:lstStyle/>
                    <a:p>
                      <a:pPr algn="r">
                        <a:buNone/>
                      </a:pPr>
                      <a:r>
                        <a:rPr lang="en-IN" sz="2700"/>
                        <a:t>74.48%</a:t>
                      </a:r>
                    </a:p>
                  </a:txBody>
                  <a:tcPr marL="136639" marR="136639" marT="68320" marB="68320" anchor="ctr"/>
                </a:tc>
                <a:extLst>
                  <a:ext uri="{0D108BD9-81ED-4DB2-BD59-A6C34878D82A}">
                    <a16:rowId xmlns:a16="http://schemas.microsoft.com/office/drawing/2014/main" val="3690926305"/>
                  </a:ext>
                </a:extLst>
              </a:tr>
              <a:tr h="589460">
                <a:tc>
                  <a:txBody>
                    <a:bodyPr/>
                    <a:lstStyle/>
                    <a:p>
                      <a:pPr>
                        <a:buNone/>
                      </a:pPr>
                      <a:r>
                        <a:rPr lang="en-IN" sz="2700"/>
                        <a:t>XGBoost</a:t>
                      </a:r>
                    </a:p>
                  </a:txBody>
                  <a:tcPr marL="136639" marR="136639" marT="68320" marB="68320" anchor="ctr"/>
                </a:tc>
                <a:tc>
                  <a:txBody>
                    <a:bodyPr/>
                    <a:lstStyle/>
                    <a:p>
                      <a:pPr algn="r">
                        <a:buNone/>
                      </a:pPr>
                      <a:r>
                        <a:rPr lang="en-IN" sz="2700"/>
                        <a:t>85.71%</a:t>
                      </a:r>
                    </a:p>
                  </a:txBody>
                  <a:tcPr marL="136639" marR="136639" marT="68320" marB="68320" anchor="ctr"/>
                </a:tc>
                <a:tc>
                  <a:txBody>
                    <a:bodyPr/>
                    <a:lstStyle/>
                    <a:p>
                      <a:pPr algn="r">
                        <a:buNone/>
                      </a:pPr>
                      <a:r>
                        <a:rPr lang="en-IN" sz="2700"/>
                        <a:t>58.62%</a:t>
                      </a:r>
                    </a:p>
                  </a:txBody>
                  <a:tcPr marL="136639" marR="136639" marT="68320" marB="68320" anchor="ctr"/>
                </a:tc>
                <a:tc>
                  <a:txBody>
                    <a:bodyPr/>
                    <a:lstStyle/>
                    <a:p>
                      <a:pPr algn="r">
                        <a:buNone/>
                      </a:pPr>
                      <a:r>
                        <a:rPr lang="en-IN" sz="2700"/>
                        <a:t>36.17%</a:t>
                      </a:r>
                    </a:p>
                  </a:txBody>
                  <a:tcPr marL="136639" marR="136639" marT="68320" marB="68320" anchor="ctr"/>
                </a:tc>
                <a:tc>
                  <a:txBody>
                    <a:bodyPr/>
                    <a:lstStyle/>
                    <a:p>
                      <a:pPr algn="r">
                        <a:buNone/>
                      </a:pPr>
                      <a:r>
                        <a:rPr lang="en-IN" sz="2700"/>
                        <a:t>44.74%</a:t>
                      </a:r>
                    </a:p>
                  </a:txBody>
                  <a:tcPr marL="136639" marR="136639" marT="68320" marB="68320" anchor="ctr"/>
                </a:tc>
                <a:tc>
                  <a:txBody>
                    <a:bodyPr/>
                    <a:lstStyle/>
                    <a:p>
                      <a:pPr algn="r">
                        <a:buNone/>
                      </a:pPr>
                      <a:r>
                        <a:rPr lang="en-IN" sz="2700" dirty="0"/>
                        <a:t>76.17%</a:t>
                      </a:r>
                    </a:p>
                  </a:txBody>
                  <a:tcPr marL="136639" marR="136639" marT="68320" marB="68320" anchor="ctr"/>
                </a:tc>
                <a:extLst>
                  <a:ext uri="{0D108BD9-81ED-4DB2-BD59-A6C34878D82A}">
                    <a16:rowId xmlns:a16="http://schemas.microsoft.com/office/drawing/2014/main" val="684235651"/>
                  </a:ext>
                </a:extLst>
              </a:tr>
            </a:tbl>
          </a:graphicData>
        </a:graphic>
      </p:graphicFrame>
    </p:spTree>
    <p:extLst>
      <p:ext uri="{BB962C8B-B14F-4D97-AF65-F5344CB8AC3E}">
        <p14:creationId xmlns:p14="http://schemas.microsoft.com/office/powerpoint/2010/main" val="3432301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32F5-8C03-21C2-0AF1-453456239D4E}"/>
              </a:ext>
            </a:extLst>
          </p:cNvPr>
          <p:cNvSpPr>
            <a:spLocks noGrp="1"/>
          </p:cNvSpPr>
          <p:nvPr>
            <p:ph type="title"/>
          </p:nvPr>
        </p:nvSpPr>
        <p:spPr>
          <a:xfrm>
            <a:off x="0" y="50842"/>
            <a:ext cx="10576965" cy="630195"/>
          </a:xfrm>
        </p:spPr>
        <p:txBody>
          <a:bodyPr>
            <a:normAutofit/>
          </a:bodyPr>
          <a:lstStyle/>
          <a:p>
            <a:r>
              <a:rPr lang="en-IN" sz="3200" dirty="0">
                <a:latin typeface="Times New Roman" panose="02020603050405020304" pitchFamily="18" charset="0"/>
                <a:cs typeface="Times New Roman" panose="02020603050405020304" pitchFamily="18" charset="0"/>
              </a:rPr>
              <a:t>Performance Evaluation</a:t>
            </a:r>
          </a:p>
        </p:txBody>
      </p:sp>
      <p:sp>
        <p:nvSpPr>
          <p:cNvPr id="3" name="Content Placeholder 2">
            <a:extLst>
              <a:ext uri="{FF2B5EF4-FFF2-40B4-BE49-F238E27FC236}">
                <a16:creationId xmlns:a16="http://schemas.microsoft.com/office/drawing/2014/main" id="{CE4EADA0-CAEF-177D-4BE5-0862EB34612E}"/>
              </a:ext>
            </a:extLst>
          </p:cNvPr>
          <p:cNvSpPr>
            <a:spLocks noGrp="1"/>
          </p:cNvSpPr>
          <p:nvPr>
            <p:ph idx="1"/>
          </p:nvPr>
        </p:nvSpPr>
        <p:spPr>
          <a:xfrm>
            <a:off x="768743" y="1085639"/>
            <a:ext cx="10900646" cy="5495926"/>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Performance Evaluation</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Accuracy:</a:t>
            </a:r>
            <a:r>
              <a:rPr lang="en-IN" sz="2400" dirty="0">
                <a:latin typeface="Times New Roman" panose="02020603050405020304" pitchFamily="18" charset="0"/>
                <a:cs typeface="Times New Roman" panose="02020603050405020304" pitchFamily="18" charset="0"/>
              </a:rPr>
              <a:t> Measures overall correct predictions. </a:t>
            </a:r>
          </a:p>
          <a:p>
            <a:pPr lvl="0"/>
            <a:r>
              <a:rPr lang="en-IN" sz="2400" b="1" dirty="0">
                <a:latin typeface="Times New Roman" panose="02020603050405020304" pitchFamily="18" charset="0"/>
                <a:cs typeface="Times New Roman" panose="02020603050405020304" pitchFamily="18" charset="0"/>
              </a:rPr>
              <a:t>Precision:</a:t>
            </a:r>
            <a:r>
              <a:rPr lang="en-IN" sz="2400" dirty="0">
                <a:latin typeface="Times New Roman" panose="02020603050405020304" pitchFamily="18" charset="0"/>
                <a:cs typeface="Times New Roman" panose="02020603050405020304" pitchFamily="18" charset="0"/>
              </a:rPr>
              <a:t> Measures how many predicted attrition cases were actually attrition cases. </a:t>
            </a:r>
          </a:p>
          <a:p>
            <a:pPr lvl="0"/>
            <a:r>
              <a:rPr lang="en-IN" sz="2400" b="1" dirty="0">
                <a:latin typeface="Times New Roman" panose="02020603050405020304" pitchFamily="18" charset="0"/>
                <a:cs typeface="Times New Roman" panose="02020603050405020304" pitchFamily="18" charset="0"/>
              </a:rPr>
              <a:t>Recall:</a:t>
            </a:r>
            <a:r>
              <a:rPr lang="en-IN" sz="2400" dirty="0">
                <a:latin typeface="Times New Roman" panose="02020603050405020304" pitchFamily="18" charset="0"/>
                <a:cs typeface="Times New Roman" panose="02020603050405020304" pitchFamily="18" charset="0"/>
              </a:rPr>
              <a:t> Measures how many actual attrition cases were identified. </a:t>
            </a:r>
          </a:p>
          <a:p>
            <a:pPr lvl="0"/>
            <a:r>
              <a:rPr lang="en-IN" sz="2400" b="1" dirty="0">
                <a:latin typeface="Times New Roman" panose="02020603050405020304" pitchFamily="18" charset="0"/>
                <a:cs typeface="Times New Roman" panose="02020603050405020304" pitchFamily="18" charset="0"/>
              </a:rPr>
              <a:t>F1-Score:</a:t>
            </a:r>
            <a:r>
              <a:rPr lang="en-IN" sz="2400" dirty="0">
                <a:latin typeface="Times New Roman" panose="02020603050405020304" pitchFamily="18" charset="0"/>
                <a:cs typeface="Times New Roman" panose="02020603050405020304" pitchFamily="18" charset="0"/>
              </a:rPr>
              <a:t> Balances Precision and Recall. </a:t>
            </a:r>
          </a:p>
          <a:p>
            <a:pPr lvl="0"/>
            <a:r>
              <a:rPr lang="en-IN" sz="2400" b="1" dirty="0">
                <a:latin typeface="Times New Roman" panose="02020603050405020304" pitchFamily="18" charset="0"/>
                <a:cs typeface="Times New Roman" panose="02020603050405020304" pitchFamily="18" charset="0"/>
              </a:rPr>
              <a:t>ROC-AUC:</a:t>
            </a:r>
            <a:r>
              <a:rPr lang="en-IN" sz="2400" dirty="0">
                <a:latin typeface="Times New Roman" panose="02020603050405020304" pitchFamily="18" charset="0"/>
                <a:cs typeface="Times New Roman" panose="02020603050405020304" pitchFamily="18" charset="0"/>
              </a:rPr>
              <a:t> Measures the model's ability to distinguish between attrition and non-attrition cases. </a:t>
            </a:r>
          </a:p>
          <a:p>
            <a:pPr marL="0" indent="0">
              <a:buNone/>
            </a:pPr>
            <a:r>
              <a:rPr lang="en-IN" sz="2400" b="1" dirty="0">
                <a:latin typeface="Times New Roman" panose="02020603050405020304" pitchFamily="18" charset="0"/>
                <a:cs typeface="Times New Roman" panose="02020603050405020304" pitchFamily="18" charset="0"/>
              </a:rPr>
              <a:t>Observed Results</a:t>
            </a:r>
          </a:p>
          <a:p>
            <a:pPr lvl="0"/>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achieved </a:t>
            </a:r>
            <a:r>
              <a:rPr lang="en-IN" sz="2400" b="1" dirty="0">
                <a:latin typeface="Times New Roman" panose="02020603050405020304" pitchFamily="18" charset="0"/>
                <a:cs typeface="Times New Roman" panose="02020603050405020304" pitchFamily="18" charset="0"/>
              </a:rPr>
              <a:t>85.71% Accuracy</a:t>
            </a:r>
            <a:r>
              <a:rPr lang="en-IN" sz="2400" dirty="0">
                <a:latin typeface="Times New Roman" panose="02020603050405020304" pitchFamily="18" charset="0"/>
                <a:cs typeface="Times New Roman" panose="02020603050405020304" pitchFamily="18" charset="0"/>
              </a:rPr>
              <a:t>. </a:t>
            </a:r>
          </a:p>
          <a:p>
            <a:pPr lvl="0"/>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achieved the highest </a:t>
            </a:r>
            <a:r>
              <a:rPr lang="en-IN" sz="2400" b="1" dirty="0">
                <a:latin typeface="Times New Roman" panose="02020603050405020304" pitchFamily="18" charset="0"/>
                <a:cs typeface="Times New Roman" panose="02020603050405020304" pitchFamily="18" charset="0"/>
              </a:rPr>
              <a:t>ROC-AUC of 76.17%</a:t>
            </a:r>
            <a:r>
              <a:rPr lang="en-IN" sz="2400" dirty="0">
                <a:latin typeface="Times New Roman" panose="02020603050405020304" pitchFamily="18" charset="0"/>
                <a:cs typeface="Times New Roman" panose="02020603050405020304" pitchFamily="18" charset="0"/>
              </a:rPr>
              <a:t> among the three models. </a:t>
            </a:r>
          </a:p>
          <a:p>
            <a:pPr lvl="0"/>
            <a:r>
              <a:rPr lang="en-IN" sz="2400" dirty="0">
                <a:latin typeface="Times New Roman" panose="02020603050405020304" pitchFamily="18" charset="0"/>
                <a:cs typeface="Times New Roman" panose="02020603050405020304" pitchFamily="18" charset="0"/>
              </a:rPr>
              <a:t>Logistic Regression achieved </a:t>
            </a:r>
            <a:r>
              <a:rPr lang="en-IN" sz="2400" b="1" dirty="0">
                <a:latin typeface="Times New Roman" panose="02020603050405020304" pitchFamily="18" charset="0"/>
                <a:cs typeface="Times New Roman" panose="02020603050405020304" pitchFamily="18" charset="0"/>
              </a:rPr>
              <a:t>42.55% Recall</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48.78% F1-Score</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The results show that model performance differs depending on the evaluation metric. </a:t>
            </a:r>
          </a:p>
          <a:p>
            <a:endParaRPr lang="en-IN" dirty="0"/>
          </a:p>
        </p:txBody>
      </p:sp>
    </p:spTree>
    <p:extLst>
      <p:ext uri="{BB962C8B-B14F-4D97-AF65-F5344CB8AC3E}">
        <p14:creationId xmlns:p14="http://schemas.microsoft.com/office/powerpoint/2010/main" val="1395504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D10F-4CE1-8D22-CC26-B50D5F11686E}"/>
              </a:ext>
            </a:extLst>
          </p:cNvPr>
          <p:cNvSpPr>
            <a:spLocks noGrp="1"/>
          </p:cNvSpPr>
          <p:nvPr>
            <p:ph type="title"/>
          </p:nvPr>
        </p:nvSpPr>
        <p:spPr>
          <a:xfrm>
            <a:off x="0" y="65719"/>
            <a:ext cx="11030119" cy="533091"/>
          </a:xfrm>
        </p:spPr>
        <p:txBody>
          <a:bodyPr>
            <a:normAutofit/>
          </a:bodyPr>
          <a:lstStyle/>
          <a:p>
            <a:r>
              <a:rPr lang="en-IN" sz="3200" dirty="0">
                <a:latin typeface="Times New Roman" panose="02020603050405020304" pitchFamily="18" charset="0"/>
                <a:cs typeface="Times New Roman" panose="02020603050405020304" pitchFamily="18" charset="0"/>
              </a:rPr>
              <a:t>Explainability Results</a:t>
            </a:r>
          </a:p>
        </p:txBody>
      </p:sp>
      <p:sp>
        <p:nvSpPr>
          <p:cNvPr id="3" name="Content Placeholder 2">
            <a:extLst>
              <a:ext uri="{FF2B5EF4-FFF2-40B4-BE49-F238E27FC236}">
                <a16:creationId xmlns:a16="http://schemas.microsoft.com/office/drawing/2014/main" id="{5FABC326-7AAD-F105-379D-ACF1A17FC07A}"/>
              </a:ext>
            </a:extLst>
          </p:cNvPr>
          <p:cNvSpPr>
            <a:spLocks noGrp="1"/>
          </p:cNvSpPr>
          <p:nvPr>
            <p:ph idx="1"/>
          </p:nvPr>
        </p:nvSpPr>
        <p:spPr>
          <a:xfrm>
            <a:off x="323681" y="784927"/>
            <a:ext cx="11030119" cy="5392036"/>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SHAP Results</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Identifies features contributing to the prediction. </a:t>
            </a:r>
          </a:p>
          <a:p>
            <a:pPr lvl="0"/>
            <a:r>
              <a:rPr lang="en-IN" sz="2400" dirty="0">
                <a:latin typeface="Times New Roman" panose="02020603050405020304" pitchFamily="18" charset="0"/>
                <a:cs typeface="Times New Roman" panose="02020603050405020304" pitchFamily="18" charset="0"/>
              </a:rPr>
              <a:t>Positive SHAP values increase the predicted attrition risk. </a:t>
            </a:r>
          </a:p>
          <a:p>
            <a:pPr lvl="0"/>
            <a:r>
              <a:rPr lang="en-IN" sz="2400" dirty="0">
                <a:latin typeface="Times New Roman" panose="02020603050405020304" pitchFamily="18" charset="0"/>
                <a:cs typeface="Times New Roman" panose="02020603050405020304" pitchFamily="18" charset="0"/>
              </a:rPr>
              <a:t>Negative SHAP values decrease the predicted attrition risk. </a:t>
            </a:r>
          </a:p>
          <a:p>
            <a:pPr marL="0" indent="0">
              <a:buNone/>
            </a:pPr>
            <a:r>
              <a:rPr lang="en-IN" sz="2400" b="1" dirty="0">
                <a:latin typeface="Times New Roman" panose="02020603050405020304" pitchFamily="18" charset="0"/>
                <a:cs typeface="Times New Roman" panose="02020603050405020304" pitchFamily="18" charset="0"/>
              </a:rPr>
              <a:t>LIME Results</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Provides an individual prediction explanation. </a:t>
            </a:r>
          </a:p>
          <a:p>
            <a:pPr lvl="0"/>
            <a:r>
              <a:rPr lang="en-IN" sz="2400" dirty="0">
                <a:latin typeface="Times New Roman" panose="02020603050405020304" pitchFamily="18" charset="0"/>
                <a:cs typeface="Times New Roman" panose="02020603050405020304" pitchFamily="18" charset="0"/>
              </a:rPr>
              <a:t>Shows which input factors influenced a particular employee prediction. </a:t>
            </a:r>
          </a:p>
          <a:p>
            <a:pPr marL="0" indent="0">
              <a:buNone/>
            </a:pPr>
            <a:r>
              <a:rPr lang="en-IN" sz="2400" dirty="0">
                <a:latin typeface="Times New Roman" panose="02020603050405020304" pitchFamily="18" charset="0"/>
                <a:cs typeface="Times New Roman" panose="02020603050405020304" pitchFamily="18" charset="0"/>
              </a:rPr>
              <a:t>Put your generated:</a:t>
            </a:r>
          </a:p>
          <a:p>
            <a:pPr lvl="0"/>
            <a:r>
              <a:rPr lang="en-IN" sz="2400" dirty="0">
                <a:latin typeface="Times New Roman" panose="02020603050405020304" pitchFamily="18" charset="0"/>
                <a:cs typeface="Times New Roman" panose="02020603050405020304" pitchFamily="18" charset="0"/>
              </a:rPr>
              <a:t>shap_summary.png </a:t>
            </a:r>
          </a:p>
          <a:p>
            <a:pPr lvl="0"/>
            <a:r>
              <a:rPr lang="en-IN" sz="2400" dirty="0">
                <a:latin typeface="Times New Roman" panose="02020603050405020304" pitchFamily="18" charset="0"/>
                <a:cs typeface="Times New Roman" panose="02020603050405020304" pitchFamily="18" charset="0"/>
              </a:rPr>
              <a:t>shap_feature_importance.png </a:t>
            </a:r>
          </a:p>
          <a:p>
            <a:pPr lvl="0"/>
            <a:r>
              <a:rPr lang="en-IN" sz="2400" dirty="0">
                <a:latin typeface="Times New Roman" panose="02020603050405020304" pitchFamily="18" charset="0"/>
                <a:cs typeface="Times New Roman" panose="02020603050405020304" pitchFamily="18" charset="0"/>
              </a:rPr>
              <a:t>LIME explanation</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228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96F7-28E6-F8BB-9DA2-7CA826CCA4F6}"/>
              </a:ext>
            </a:extLst>
          </p:cNvPr>
          <p:cNvSpPr>
            <a:spLocks noGrp="1"/>
          </p:cNvSpPr>
          <p:nvPr>
            <p:ph type="title"/>
          </p:nvPr>
        </p:nvSpPr>
        <p:spPr>
          <a:xfrm>
            <a:off x="0" y="0"/>
            <a:ext cx="10690253" cy="476447"/>
          </a:xfrm>
        </p:spPr>
        <p:txBody>
          <a:bodyPr>
            <a:noAutofit/>
          </a:bodyPr>
          <a:lstStyle/>
          <a:p>
            <a:r>
              <a:rPr lang="en-IN" sz="3200" dirty="0">
                <a:latin typeface="Times New Roman" panose="02020603050405020304" pitchFamily="18" charset="0"/>
                <a:cs typeface="Times New Roman" panose="02020603050405020304" pitchFamily="18" charset="0"/>
              </a:rPr>
              <a:t>Working / Application Output</a:t>
            </a:r>
          </a:p>
        </p:txBody>
      </p:sp>
      <p:pic>
        <p:nvPicPr>
          <p:cNvPr id="5" name="Content Placeholder 4">
            <a:extLst>
              <a:ext uri="{FF2B5EF4-FFF2-40B4-BE49-F238E27FC236}">
                <a16:creationId xmlns:a16="http://schemas.microsoft.com/office/drawing/2014/main" id="{E0F4FF88-C00F-5551-8827-4583339DC454}"/>
              </a:ext>
            </a:extLst>
          </p:cNvPr>
          <p:cNvPicPr>
            <a:picLocks noGrp="1" noChangeAspect="1"/>
          </p:cNvPicPr>
          <p:nvPr>
            <p:ph idx="1"/>
          </p:nvPr>
        </p:nvPicPr>
        <p:blipFill>
          <a:blip r:embed="rId2"/>
          <a:stretch>
            <a:fillRect/>
          </a:stretch>
        </p:blipFill>
        <p:spPr>
          <a:xfrm>
            <a:off x="363857" y="946500"/>
            <a:ext cx="5171471" cy="5324827"/>
          </a:xfrm>
          <a:prstGeom prst="rect">
            <a:avLst/>
          </a:prstGeom>
        </p:spPr>
      </p:pic>
      <p:pic>
        <p:nvPicPr>
          <p:cNvPr id="7" name="Picture 6">
            <a:extLst>
              <a:ext uri="{FF2B5EF4-FFF2-40B4-BE49-F238E27FC236}">
                <a16:creationId xmlns:a16="http://schemas.microsoft.com/office/drawing/2014/main" id="{71907D83-DB5C-BD79-5DAC-C1EA18A29A41}"/>
              </a:ext>
            </a:extLst>
          </p:cNvPr>
          <p:cNvPicPr>
            <a:picLocks noChangeAspect="1"/>
          </p:cNvPicPr>
          <p:nvPr/>
        </p:nvPicPr>
        <p:blipFill>
          <a:blip r:embed="rId3"/>
          <a:stretch>
            <a:fillRect/>
          </a:stretch>
        </p:blipFill>
        <p:spPr>
          <a:xfrm>
            <a:off x="6971769" y="5628968"/>
            <a:ext cx="4413724" cy="1057280"/>
          </a:xfrm>
          <a:prstGeom prst="rect">
            <a:avLst/>
          </a:prstGeom>
        </p:spPr>
      </p:pic>
      <p:pic>
        <p:nvPicPr>
          <p:cNvPr id="11" name="Picture 10">
            <a:extLst>
              <a:ext uri="{FF2B5EF4-FFF2-40B4-BE49-F238E27FC236}">
                <a16:creationId xmlns:a16="http://schemas.microsoft.com/office/drawing/2014/main" id="{04F27179-5FC2-B0C5-529E-24E9F816569E}"/>
              </a:ext>
            </a:extLst>
          </p:cNvPr>
          <p:cNvPicPr>
            <a:picLocks noChangeAspect="1"/>
          </p:cNvPicPr>
          <p:nvPr/>
        </p:nvPicPr>
        <p:blipFill>
          <a:blip r:embed="rId4"/>
          <a:stretch>
            <a:fillRect/>
          </a:stretch>
        </p:blipFill>
        <p:spPr>
          <a:xfrm>
            <a:off x="5895274" y="303942"/>
            <a:ext cx="6151354" cy="4993054"/>
          </a:xfrm>
          <a:prstGeom prst="rect">
            <a:avLst/>
          </a:prstGeom>
        </p:spPr>
      </p:pic>
    </p:spTree>
    <p:extLst>
      <p:ext uri="{BB962C8B-B14F-4D97-AF65-F5344CB8AC3E}">
        <p14:creationId xmlns:p14="http://schemas.microsoft.com/office/powerpoint/2010/main" val="1449950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F2F0-A874-7D7C-0C9A-6B05CBF89127}"/>
              </a:ext>
            </a:extLst>
          </p:cNvPr>
          <p:cNvSpPr>
            <a:spLocks noGrp="1"/>
          </p:cNvSpPr>
          <p:nvPr>
            <p:ph type="title"/>
          </p:nvPr>
        </p:nvSpPr>
        <p:spPr>
          <a:xfrm>
            <a:off x="0" y="0"/>
            <a:ext cx="11127223" cy="605919"/>
          </a:xfrm>
        </p:spPr>
        <p:txBody>
          <a:bodyPr>
            <a:normAutofit/>
          </a:bodyPr>
          <a:lstStyle/>
          <a:p>
            <a:r>
              <a:rPr lang="en-IN" sz="32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701026A-2893-A414-D702-726F63256E3F}"/>
              </a:ext>
            </a:extLst>
          </p:cNvPr>
          <p:cNvSpPr>
            <a:spLocks noGrp="1"/>
          </p:cNvSpPr>
          <p:nvPr>
            <p:ph idx="1"/>
          </p:nvPr>
        </p:nvSpPr>
        <p:spPr>
          <a:xfrm>
            <a:off x="773464" y="725108"/>
            <a:ext cx="10515600" cy="4351338"/>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The project successfully implements an Explainable AI framework for employee attrition prediction using the IBM HR dataset. Multiple Machine Learning models were trained and evaluated, with </a:t>
            </a:r>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selected based on ROC-AUC. SHAP and LIME were integrated to explain individual predictions. The developed web application provides an understandable prediction, probability and contributing factors for HR analysis.</a:t>
            </a:r>
          </a:p>
        </p:txBody>
      </p:sp>
    </p:spTree>
    <p:extLst>
      <p:ext uri="{BB962C8B-B14F-4D97-AF65-F5344CB8AC3E}">
        <p14:creationId xmlns:p14="http://schemas.microsoft.com/office/powerpoint/2010/main" val="3085829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TotalTime>
  <Words>967</Words>
  <Application>Microsoft Office PowerPoint</Application>
  <PresentationFormat>Widescreen</PresentationFormat>
  <Paragraphs>221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PowerPoint Presentation</vt:lpstr>
      <vt:lpstr>Introduction:</vt:lpstr>
      <vt:lpstr>Problem Statement:</vt:lpstr>
      <vt:lpstr>Objectives:</vt:lpstr>
      <vt:lpstr>Literature Survey:</vt:lpstr>
      <vt:lpstr>Research Gap</vt:lpstr>
      <vt:lpstr>Innovation, Creativity &amp; Novelty</vt:lpstr>
      <vt:lpstr>Methodology</vt:lpstr>
      <vt:lpstr>System Design</vt:lpstr>
      <vt:lpstr>Modern Tools and Technologies</vt:lpstr>
      <vt:lpstr>Implementation</vt:lpstr>
      <vt:lpstr>Results</vt:lpstr>
      <vt:lpstr>Performance Evaluation</vt:lpstr>
      <vt:lpstr>Explainability Results</vt:lpstr>
      <vt:lpstr>Working / Application 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PEDDIREDDY SREE BHUVANESWARI 2420030519</dc:creator>
  <cp:lastModifiedBy>PEDDIREDDY SREE BHUVANESWARI 2420030519</cp:lastModifiedBy>
  <cp:revision>5</cp:revision>
  <dcterms:created xsi:type="dcterms:W3CDTF">2026-08-19T03:54:25Z</dcterms:created>
  <dcterms:modified xsi:type="dcterms:W3CDTF">2026-09-17T06:03:38Z</dcterms:modified>
</cp:coreProperties>
</file>