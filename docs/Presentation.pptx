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5267" autoAdjust="0"/>
  </p:normalViewPr>
  <p:slideViewPr>
    <p:cSldViewPr snapToGrid="0">
      <p:cViewPr varScale="1">
        <p:scale>
          <a:sx n="79" d="100"/>
          <a:sy n="79" d="100"/>
        </p:scale>
        <p:origin x="7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8997D-3FB3-B6A4-605E-705985E4A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EAA1BF-FF30-F0ED-AC82-1657F93F64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4E3A6-1746-82D9-ED9A-FEE262647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97AE6-97B8-5BD8-6B41-E116787D6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9A30D-CF69-6036-222E-DA298FA28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6236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FEC38-9C56-91FE-BA4B-586D74404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63104-386E-BC35-D859-790FBABD4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3D9FE-EE95-8EB7-2F4B-2B5D4357D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8A83B-46C1-3C15-0939-8C74840AE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8BE5E-7545-2446-2DDE-003E3AD20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4072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80314-0863-969A-7A98-A6D8915E4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EC6D6-0BA5-9077-FD3D-2DBC8DD53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BCE3A2-13AD-2A40-FA49-9F7F74557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1F6C7-A787-92C5-472C-373895310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96771-F63D-B95B-F7AC-6D9F26904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3236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CB16B-7CC0-F554-D33E-0BEC42CD4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97938-F487-488B-610F-53B8DC4F8D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C4BC18-688A-45FC-9772-569293FAC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E89DD-B722-3C55-1C13-C9E23F039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347F9-11D3-394F-D584-D4E5E2E22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0AE301-ECF2-EDA1-97B4-BB044BAE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5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01FA6-167D-8F98-A871-2A6F9A1CC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32B2A-5C35-1547-BAB8-7C3DCEE00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E94479-E133-0914-960B-F46F08DD47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3ACAC2-A729-9F7F-DC11-B004814A79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4B01BF-0300-6D53-D000-5BC139D48D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BA4A70-86A5-E52D-9696-81861953D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931E5E-A7D4-D964-8922-F437FC938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BD0D7-071B-D2DB-9BC9-1AA44081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453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7B6A7-EBD0-D514-F87E-2E4A9E0CF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1DF63-A547-BE6C-CF13-62C4CE685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34C63E-25B1-0B79-08D7-723859399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EC5DB8-21C9-7B7E-762B-94040483D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769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0F2CDF-E4C5-9FED-683D-F09AFBC84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2057D9-4E42-B081-F578-FD51B7228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17FE7-7531-4AFE-AF72-E7AE68CFF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609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9D7D3-63A9-3B2E-9673-4BA944667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E1676-20AF-305B-E8CA-E73101095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9E98AD-4A0F-5552-30B2-E56EEEBA39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F402F3-C95F-9A27-6AE8-2ABCF50DD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7A9EAC-EAE8-4FEE-53F6-8DFC6FF92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AD0018-EECE-B3DA-B22D-0CBBF26CD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3019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4ABA-676A-6A1A-CB99-AF68D48C4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D29947-667B-133D-8907-4C8E4C442C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94A1A-F1F4-5665-0D42-C7383F9F7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AC319-C488-4950-93F7-9E5562ABD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34D29-DF0D-1D58-B5E8-65568F1F9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575B93-750B-7A5F-38CB-B787D128A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07521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2CE2D-966F-D471-9EAE-844D065BE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9794B6-3A57-0F20-4D46-7CA607AAE7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E8ED0-B59E-B60E-1C99-6475D5FB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6DB74E-7879-FE8E-719B-B2EDECA2E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2BF0C-9FAD-F136-CA3B-B666B30AF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0274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446FF-6B6E-BEAF-02B3-A74E84A52A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9C768-9538-D2C2-2637-A947BB80D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0A1F8-C2AA-8274-166D-88BB262A4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82F90-C7AB-6F54-7724-29C45277D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C454C-1371-7749-C668-042B4906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1919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2032D1-C0A9-8EF1-DD07-E2094D560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E92D0-839A-CA66-0DB1-74BD12A25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1C10E-4D78-5C3C-C576-BE546B6FBF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D41B7D-1623-4CFD-8766-1AB5B831B954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D0D29-CF2C-F56E-9D48-374CB015A8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6DABE-7874-4CFE-FB23-E4F4E574DE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20674-4253-4AFD-A20D-83C8EBACB5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6908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klh.edu.in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467356" y="97107"/>
            <a:ext cx="9023751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b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Review Meeting  </a:t>
            </a:r>
            <a:endParaRPr lang="en-US" sz="1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</a:t>
            </a:r>
            <a:b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Framework for Employee                    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AttritionPrediction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                         by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P.SREE BHUVANESWARI - 2420030519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M.WITTY-2420030759                                                                   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P.GURU PRASAD – 2420090089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            </a:t>
            </a:r>
            <a:r>
              <a:rPr lang="en-US" sz="14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Number: 1</a:t>
            </a:r>
          </a:p>
          <a:p>
            <a:r>
              <a:rPr lang="en-US" sz="1400" b="1" i="1" dirty="0">
                <a:solidFill>
                  <a:srgbClr val="00B0F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        </a:t>
            </a:r>
            <a:r>
              <a:rPr lang="en-GB" sz="14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Under the guidance of </a:t>
            </a:r>
            <a:r>
              <a:rPr lang="en-GB" sz="14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                              </a:t>
            </a:r>
          </a:p>
          <a:p>
            <a:r>
              <a:rPr lang="en-GB" sz="14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</a:t>
            </a:r>
            <a:r>
              <a:rPr lang="en-US" sz="1400" b="1" i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</a:t>
            </a:r>
            <a:r>
              <a:rPr lang="en-US" sz="14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KATANGURI SWANTHANA</a:t>
            </a:r>
            <a:endParaRPr lang="en-US" sz="14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     </a:t>
            </a: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r>
              <a:rPr lang="en-US" sz="14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Department of Computer Science and Engineering</a:t>
            </a: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r>
              <a:rPr lang="en-GB" sz="2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Koneru Lakshmaiah Education Foundation</a:t>
            </a:r>
            <a:b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(Deemed to be University </a:t>
            </a:r>
            <a:r>
              <a:rPr lang="en-GB" sz="1400" b="1" kern="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estd</a:t>
            </a:r>
            <a: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u/s. 3 of the UGC Act, 1956)</a:t>
            </a:r>
            <a:b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Off-Campus: </a:t>
            </a:r>
            <a:r>
              <a:rPr lang="en-GB" sz="1400" b="1" kern="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Bachupally-Gandimaisamma</a:t>
            </a:r>
            <a: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Road, </a:t>
            </a:r>
            <a:r>
              <a:rPr lang="en-GB" sz="1400" b="1" kern="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Bowrampet</a:t>
            </a:r>
            <a: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Hyderabad, Telangana - 500 043.</a:t>
            </a:r>
            <a:b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400" b="1" kern="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Phone No: 7815926816, </a:t>
            </a:r>
            <a:r>
              <a:rPr lang="en-GB" sz="1400" b="1" u="sng" kern="100" dirty="0">
                <a:solidFill>
                  <a:srgbClr val="467886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www.klh.edu.in</a:t>
            </a:r>
            <a:endParaRPr lang="en-US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defRPr/>
            </a:pPr>
            <a:endParaRPr lang="en-US" sz="1400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    </a:t>
            </a:r>
          </a:p>
          <a:p>
            <a:endParaRPr lang="en-IN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7071" y="3924197"/>
            <a:ext cx="2499986" cy="1253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7490B-F26C-D5D9-2DB4-E9E210231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65125"/>
            <a:ext cx="10439400" cy="614011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204C9-308E-BB96-66D8-E282D6D68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6220"/>
            <a:ext cx="10515600" cy="435133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attrition refers to employees leaving an organization. High attrition can lead to loss of experienced employees, additional recruitment costs and reduced productivity.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can help predict employees who are more likely to leave. However, prediction alone is not enough for HR. The organization also needs to understand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the model gives that prediction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project therefore combines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with Explainable AI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make employee attrition predictions more understandable and useful for HR decision-making.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4638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7ABE6-8B4B-5809-7655-ADAD09A40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8CC0F-40D1-AFB8-E86E-CEA635B26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65125"/>
            <a:ext cx="10439400" cy="614011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84731-1AA8-87F9-C08F-1F0EEAAA8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5840" y="1388656"/>
            <a:ext cx="10520320" cy="4478070"/>
          </a:xfrm>
        </p:spPr>
        <p:txBody>
          <a:bodyPr>
            <a:normAutofit lnSpcReduction="10000"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Organizations often have employee data, but identifying employees who may leave is difficult.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challenges: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attrition is influenced by multiple factors.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ML models may behave like black boxes.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prediction alone does not explain the reason.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 needs understandable information before taking action.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data can be imbalanced, making attrition prediction difficult.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9972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46532-D44A-EA60-5368-C8F4DD8B1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C314A-FC4E-F0E5-C416-0855703A9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65125"/>
            <a:ext cx="10439400" cy="614011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729DB-7546-7386-FD50-F6C6D594CA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5840" y="1558589"/>
            <a:ext cx="10520320" cy="4478070"/>
          </a:xfrm>
        </p:spPr>
        <p:txBody>
          <a:bodyPr>
            <a:normAutofit fontScale="92500" lnSpcReduction="20000"/>
          </a:bodyPr>
          <a:lstStyle/>
          <a:p>
            <a:pPr lvl="0"/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Machine Learning model for predicting employee attrition. </a:t>
            </a:r>
          </a:p>
          <a:p>
            <a:pPr lvl="0"/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identify the important employee and job-related factors influencing attrition. </a:t>
            </a:r>
          </a:p>
          <a:p>
            <a:pPr lvl="0"/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apply </a:t>
            </a: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techniques such as SHAP and LIME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explain model predictions. </a:t>
            </a:r>
          </a:p>
          <a:p>
            <a:pPr lvl="0"/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both </a:t>
            </a: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feature importance and individual employee explanations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evaluate the model using </a:t>
            </a: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Accuracy, Precision, Recall, F1-score and ROC-AUC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present the results in a simple form that can support HR decision-making.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478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C7A7D-C80F-FF23-B47D-12ED9C460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10819-5445-6F55-F48A-62FA10694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65125"/>
            <a:ext cx="10439400" cy="614011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10739-3DE9-F928-80AB-9DCFA39D7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5840" y="1558589"/>
            <a:ext cx="10520320" cy="4478070"/>
          </a:xfrm>
        </p:spPr>
        <p:txBody>
          <a:bodyPr>
            <a:normAutofit lnSpcReduction="10000"/>
          </a:bodyPr>
          <a:lstStyle/>
          <a:p>
            <a:pPr lvl="0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Machine Learning model for predicting employee attrition. </a:t>
            </a:r>
          </a:p>
          <a:p>
            <a:pPr lvl="0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identify the important employee and job-related factors influencing attrition. </a:t>
            </a:r>
          </a:p>
          <a:p>
            <a:pPr lvl="0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apply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techniques such as SHAP and LIME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explain model predictions. </a:t>
            </a:r>
          </a:p>
          <a:p>
            <a:pPr lvl="0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both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feature importance and individual employee explanations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evaluate the model using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Accuracy, Precision, Recall, F1-score and ROC-AUC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present the results in a simple form that can support HR decision-making.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094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A3BC8-9796-43C3-81E1-ED91A7C4D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4C525-AC3D-87BE-5924-5D795E74B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755" y="365125"/>
            <a:ext cx="10965045" cy="614011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Survey: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1C28B7A1-C196-E258-5FBD-3942DFC699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523335"/>
              </p:ext>
            </p:extLst>
          </p:nvPr>
        </p:nvGraphicFramePr>
        <p:xfrm>
          <a:off x="388755" y="1137802"/>
          <a:ext cx="11490690" cy="5155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138">
                  <a:extLst>
                    <a:ext uri="{9D8B030D-6E8A-4147-A177-3AD203B41FA5}">
                      <a16:colId xmlns:a16="http://schemas.microsoft.com/office/drawing/2014/main" val="4179886534"/>
                    </a:ext>
                  </a:extLst>
                </a:gridCol>
                <a:gridCol w="2298138">
                  <a:extLst>
                    <a:ext uri="{9D8B030D-6E8A-4147-A177-3AD203B41FA5}">
                      <a16:colId xmlns:a16="http://schemas.microsoft.com/office/drawing/2014/main" val="3328743088"/>
                    </a:ext>
                  </a:extLst>
                </a:gridCol>
                <a:gridCol w="2298138">
                  <a:extLst>
                    <a:ext uri="{9D8B030D-6E8A-4147-A177-3AD203B41FA5}">
                      <a16:colId xmlns:a16="http://schemas.microsoft.com/office/drawing/2014/main" val="1468619842"/>
                    </a:ext>
                  </a:extLst>
                </a:gridCol>
                <a:gridCol w="2298138">
                  <a:extLst>
                    <a:ext uri="{9D8B030D-6E8A-4147-A177-3AD203B41FA5}">
                      <a16:colId xmlns:a16="http://schemas.microsoft.com/office/drawing/2014/main" val="2059865173"/>
                    </a:ext>
                  </a:extLst>
                </a:gridCol>
                <a:gridCol w="2298138">
                  <a:extLst>
                    <a:ext uri="{9D8B030D-6E8A-4147-A177-3AD203B41FA5}">
                      <a16:colId xmlns:a16="http://schemas.microsoft.com/office/drawing/2014/main" val="170243099"/>
                    </a:ext>
                  </a:extLst>
                </a:gridCol>
              </a:tblGrid>
              <a:tr h="816476">
                <a:tc>
                  <a:txBody>
                    <a:bodyPr/>
                    <a:lstStyle/>
                    <a:p>
                      <a:r>
                        <a:rPr lang="en-IN" dirty="0"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LIMITATION/GAP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4623934"/>
                  </a:ext>
                </a:extLst>
              </a:tr>
              <a:tr h="816476"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Interpreting the Factors of Employee Attrition using Explainable AI</a:t>
                      </a:r>
                      <a:endParaRPr lang="en-IN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SHAP + LIME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Explains factors influencing employee attrition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Mainly focuses on interpreting attrition factors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279322"/>
                  </a:ext>
                </a:extLst>
              </a:tr>
              <a:tr h="816476"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Analyzing</a:t>
                      </a: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Employee Attrition Using Explainable AI for Strategic HR Decision-Making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LIME + SHAP + ELI5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Explains ML predictions for HR decisions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Mainly focuses on prediction and explanation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754078"/>
                  </a:ext>
                </a:extLst>
              </a:tr>
              <a:tr h="816476"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Retention Is All You Need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 + SHAP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HR decision-support for attrition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Shows that XAI can support HR decisions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7865204"/>
                  </a:ext>
                </a:extLst>
              </a:tr>
              <a:tr h="816476"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Employee Attrition Prediction: An Explanatory and Statistically Robust Ensemble Learning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XGBoost</a:t>
                      </a:r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+ SHAP + LIME + </a:t>
                      </a:r>
                      <a:r>
                        <a:rPr lang="en-IN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Optuna</a:t>
                      </a:r>
                      <a:endParaRPr lang="en-IN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Improves prediction and interpretability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More complex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4447366"/>
                  </a:ext>
                </a:extLst>
              </a:tr>
              <a:tr h="816476"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Explainable AI for Employee Turnover Prediction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SHAP + fairness +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Adds subgroup fairness and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Shows that responsible deployment needs more than feature importance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17943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7713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29D81-6F4B-1D33-1733-84854584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7" y="146641"/>
            <a:ext cx="10515600" cy="743484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CE327E-5AAB-8C25-0F62-414AB7AF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research already provides:</a:t>
            </a: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Attrition prediction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SHAP-based explanations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LIME-based individual explanations</a:t>
            </a: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Ensemble models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Risk scoring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Fairness analysis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HR decision support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2106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F12A6-30DD-7D50-B1AD-3C5D148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65AD-4EB3-0FEB-19CB-BD06E815D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7" y="146641"/>
            <a:ext cx="10515600" cy="743484"/>
          </a:xfrm>
        </p:spPr>
        <p:txBody>
          <a:bodyPr>
            <a:normAutofit/>
          </a:bodyPr>
          <a:lstStyle/>
          <a:p>
            <a:r>
              <a:rPr lang="en-IN" sz="3200" dirty="0"/>
              <a:t>Innovation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39480-6D05-91DC-D79C-43339A67B1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807" y="1081157"/>
            <a:ext cx="10645073" cy="5473391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IN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Attrition Risk Profile</a:t>
            </a:r>
          </a:p>
          <a:p>
            <a:pPr mar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giving only:</a:t>
            </a:r>
          </a:p>
          <a:p>
            <a:pPr mar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Prediction: Employee may leave</a:t>
            </a:r>
          </a:p>
          <a:p>
            <a:pPr mar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system produces an understandable profile:</a:t>
            </a:r>
          </a:p>
          <a:p>
            <a:pPr mar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Risk Profile</a:t>
            </a:r>
          </a:p>
          <a:p>
            <a:pPr mar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Attrition Risk: High</a:t>
            </a:r>
            <a:b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Probability: 82%</a:t>
            </a:r>
          </a:p>
          <a:p>
            <a:pPr mar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factors:</a:t>
            </a:r>
          </a:p>
          <a:p>
            <a:pPr marL="0" lv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</a:t>
            </a:r>
            <a:r>
              <a:rPr lang="en-IN" sz="5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OverTime</a:t>
            </a: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lv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Job Satisfaction </a:t>
            </a:r>
          </a:p>
          <a:p>
            <a:pPr marL="0" lvl="0" indent="0">
              <a:buNone/>
            </a:pPr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Work-Life Balance</a:t>
            </a:r>
          </a:p>
          <a:p>
            <a:pPr marL="0" lvl="0" indent="0">
              <a:buNone/>
            </a:pPr>
            <a:endParaRPr lang="en-IN" sz="5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this is useful</a:t>
            </a:r>
          </a:p>
          <a:p>
            <a:r>
              <a:rPr lang="en-IN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 can see the prediction + probability + reasons in one place, instead of interpreting separate ML outputs.</a:t>
            </a:r>
          </a:p>
          <a:p>
            <a:pPr marL="0" lvl="0" indent="0">
              <a:buNone/>
            </a:pPr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9623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362D4-16B0-6394-B3E2-A957D030C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3C016-A2EB-8CFE-5D72-2C6B2B06E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7" y="146641"/>
            <a:ext cx="10515600" cy="743484"/>
          </a:xfrm>
        </p:spPr>
        <p:txBody>
          <a:bodyPr>
            <a:normAutofit/>
          </a:bodyPr>
          <a:lstStyle/>
          <a:p>
            <a:r>
              <a:rPr lang="en-IN" sz="3200" dirty="0"/>
              <a:t>Creativity &amp; Novelty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5B99C-B6F8-CDE8-82B3-8775003D9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808" y="1068149"/>
            <a:ext cx="4138402" cy="5486399"/>
          </a:xfrm>
        </p:spPr>
        <p:txBody>
          <a:bodyPr>
            <a:norm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Creativity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combines: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risk scoring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Individual-level explanations 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HR visualization 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322ABE-466B-7993-3F3A-556D9283DEE1}"/>
              </a:ext>
            </a:extLst>
          </p:cNvPr>
          <p:cNvSpPr txBox="1"/>
          <p:nvPr/>
        </p:nvSpPr>
        <p:spPr>
          <a:xfrm>
            <a:off x="6295604" y="1068149"/>
            <a:ext cx="5510676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Novelty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proposed framework integrates: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Score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Why? — SHAP/LIME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Risk Profile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 Decision Support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4107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8263B-E681-C72F-ADBD-6C5234152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23AE2-D1B1-5186-AD21-F4917EB2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7" y="146641"/>
            <a:ext cx="10515600" cy="743484"/>
          </a:xfrm>
        </p:spPr>
        <p:txBody>
          <a:bodyPr>
            <a:normAutofit/>
          </a:bodyPr>
          <a:lstStyle/>
          <a:p>
            <a:r>
              <a:rPr lang="en-IN" sz="3200" dirty="0"/>
              <a:t>Proposed Framework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458AE-CF16-EE79-B59C-3D5EE785E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808" y="1051965"/>
            <a:ext cx="10733410" cy="550258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HR Dataset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↓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↓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Selection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↓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↓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Attrition Prediction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↓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Probability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↓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 + LIME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↓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Risk Profile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↓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 Decision Support</a:t>
            </a:r>
          </a:p>
        </p:txBody>
      </p:sp>
    </p:spTree>
    <p:extLst>
      <p:ext uri="{BB962C8B-B14F-4D97-AF65-F5344CB8AC3E}">
        <p14:creationId xmlns:p14="http://schemas.microsoft.com/office/powerpoint/2010/main" val="2478956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EAF96-3E88-0E2A-C6D8-CD4151FF1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99099-5CFA-CB3E-FBD7-CC71A9AB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7" y="146641"/>
            <a:ext cx="10515600" cy="743484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6571A-B0C6-F641-0642-22EDEBF7C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2" y="1586040"/>
            <a:ext cx="4373070" cy="49685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 </a:t>
            </a:r>
          </a:p>
          <a:p>
            <a:pPr lvl="0"/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Random Forest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LIME </a:t>
            </a:r>
          </a:p>
          <a:p>
            <a:pPr lvl="0"/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9C47B0-2189-15C2-37CE-6DFB73469F8A}"/>
              </a:ext>
            </a:extLst>
          </p:cNvPr>
          <p:cNvSpPr txBox="1"/>
          <p:nvPr/>
        </p:nvSpPr>
        <p:spPr>
          <a:xfrm>
            <a:off x="6876206" y="1473279"/>
            <a:ext cx="5315794" cy="5626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Economic Feasibility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dataset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libraries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expensive software required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developed on a normal laptop </a:t>
            </a: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Feasibility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HR dashboard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Easy-to-understand output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support HR analysis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later be adapted to organization-specific data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8062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09C9F-3FBC-3318-A1B3-5D49B8D20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B0F76-0073-37AB-EDB8-DE5A94529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7" y="146641"/>
            <a:ext cx="10515600" cy="743484"/>
          </a:xfrm>
        </p:spPr>
        <p:txBody>
          <a:bodyPr>
            <a:normAutofit/>
          </a:bodyPr>
          <a:lstStyle/>
          <a:p>
            <a:r>
              <a:rPr lang="en-IN" sz="3200" dirty="0"/>
              <a:t>Project Plan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3C265D-39F5-677E-A7B6-FB5DA7C66C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8216484"/>
              </p:ext>
            </p:extLst>
          </p:nvPr>
        </p:nvGraphicFramePr>
        <p:xfrm>
          <a:off x="838200" y="1011599"/>
          <a:ext cx="10515600" cy="56997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80773044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179759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692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Requirement Analysis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79231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Literature Survey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3241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Collection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090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Preprocessing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4731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ML Model Development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051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SHAP &amp; LIME Integration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78537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 Profile Development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0741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Evaluation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916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Streamlit Dashboard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6512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 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Testing &amp; Documentation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596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530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308A9-8967-0352-9C0D-E3F9B834F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6816D-656A-3453-CFAB-F070FCD7B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7" y="146641"/>
            <a:ext cx="10515600" cy="743484"/>
          </a:xfrm>
        </p:spPr>
        <p:txBody>
          <a:bodyPr>
            <a:normAutofit/>
          </a:bodyPr>
          <a:lstStyle/>
          <a:p>
            <a:r>
              <a:rPr lang="en-IN" sz="3200" dirty="0"/>
              <a:t>Expected Outcome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379611-3616-5572-0C78-A3F94310D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280" y="1429115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“Is this employee likely to leave?”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“How high is the predicted risk?”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Explanation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“Which factors influenced the prediction?”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Support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“What information should HR consider?”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idea:</a:t>
            </a:r>
          </a:p>
          <a:p>
            <a:pPr marL="0" indent="0">
              <a:buNone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goal is not only to predict employee attrition, but to make the prediction understandable and useful for HR.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9260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906</Words>
  <Application>Microsoft Office PowerPoint</Application>
  <PresentationFormat>Widescreen</PresentationFormat>
  <Paragraphs>190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Office Theme</vt:lpstr>
      <vt:lpstr>PowerPoint Presentation</vt:lpstr>
      <vt:lpstr>Introduction:</vt:lpstr>
      <vt:lpstr>Problem Statement:</vt:lpstr>
      <vt:lpstr>Objectives:</vt:lpstr>
      <vt:lpstr>Objectives:</vt:lpstr>
      <vt:lpstr>Literature Survey:</vt:lpstr>
      <vt:lpstr>Research Gap</vt:lpstr>
      <vt:lpstr>Innovation</vt:lpstr>
      <vt:lpstr>Creativity &amp; Novelty</vt:lpstr>
      <vt:lpstr>Proposed Framework</vt:lpstr>
      <vt:lpstr>Feasibility</vt:lpstr>
      <vt:lpstr>Project Plan</vt:lpstr>
      <vt:lpstr>Expected Outcome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PEDDIREDDY SREE BHUVANESWARI 2420030519</dc:creator>
  <cp:lastModifiedBy>PEDDIREDDY SREE BHUVANESWARI 2420030519</cp:lastModifiedBy>
  <cp:revision>1</cp:revision>
  <dcterms:created xsi:type="dcterms:W3CDTF">2026-08-19T03:54:25Z</dcterms:created>
  <dcterms:modified xsi:type="dcterms:W3CDTF">2026-08-19T05:31:15Z</dcterms:modified>
</cp:coreProperties>
</file>